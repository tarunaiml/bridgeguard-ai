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100" d="100"/>
          <a:sy n="100" d="100"/>
        </p:scale>
        <p:origin x="954" y="31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vula tarun" userId="971a0ab05f112b0a" providerId="LiveId" clId="{BA2F2C09-4EF8-403F-BFCC-AFEB6DB3976D}"/>
    <pc:docChg chg="undo custSel modSld">
      <pc:chgData name="avula tarun" userId="971a0ab05f112b0a" providerId="LiveId" clId="{BA2F2C09-4EF8-403F-BFCC-AFEB6DB3976D}" dt="2026-09-22T14:28:29.367" v="8" actId="1076"/>
      <pc:docMkLst>
        <pc:docMk/>
      </pc:docMkLst>
      <pc:sldChg chg="modSp mod">
        <pc:chgData name="avula tarun" userId="971a0ab05f112b0a" providerId="LiveId" clId="{BA2F2C09-4EF8-403F-BFCC-AFEB6DB3976D}" dt="2026-09-22T14:26:14.850" v="0" actId="20577"/>
        <pc:sldMkLst>
          <pc:docMk/>
          <pc:sldMk cId="0" sldId="258"/>
        </pc:sldMkLst>
        <pc:spChg chg="mod">
          <ac:chgData name="avula tarun" userId="971a0ab05f112b0a" providerId="LiveId" clId="{BA2F2C09-4EF8-403F-BFCC-AFEB6DB3976D}" dt="2026-09-22T14:26:14.850" v="0" actId="20577"/>
          <ac:spMkLst>
            <pc:docMk/>
            <pc:sldMk cId="0" sldId="258"/>
            <ac:spMk id="5" creationId="{00000000-0000-0000-0000-000000000000}"/>
          </ac:spMkLst>
        </pc:spChg>
      </pc:sldChg>
      <pc:sldChg chg="addSp delSp modSp mod">
        <pc:chgData name="avula tarun" userId="971a0ab05f112b0a" providerId="LiveId" clId="{BA2F2C09-4EF8-403F-BFCC-AFEB6DB3976D}" dt="2026-09-22T14:28:29.367" v="8" actId="1076"/>
        <pc:sldMkLst>
          <pc:docMk/>
          <pc:sldMk cId="0" sldId="269"/>
        </pc:sldMkLst>
        <pc:spChg chg="del mod">
          <ac:chgData name="avula tarun" userId="971a0ab05f112b0a" providerId="LiveId" clId="{BA2F2C09-4EF8-403F-BFCC-AFEB6DB3976D}" dt="2026-09-22T14:28:09.376" v="2" actId="478"/>
          <ac:spMkLst>
            <pc:docMk/>
            <pc:sldMk cId="0" sldId="269"/>
            <ac:spMk id="5" creationId="{00000000-0000-0000-0000-000000000000}"/>
          </ac:spMkLst>
        </pc:spChg>
        <pc:spChg chg="add del">
          <ac:chgData name="avula tarun" userId="971a0ab05f112b0a" providerId="LiveId" clId="{BA2F2C09-4EF8-403F-BFCC-AFEB6DB3976D}" dt="2026-09-22T14:28:13.633" v="4" actId="22"/>
          <ac:spMkLst>
            <pc:docMk/>
            <pc:sldMk cId="0" sldId="269"/>
            <ac:spMk id="7" creationId="{A8C9FBEB-F139-1423-6E74-A3555441CD1D}"/>
          </ac:spMkLst>
        </pc:spChg>
        <pc:picChg chg="add mod">
          <ac:chgData name="avula tarun" userId="971a0ab05f112b0a" providerId="LiveId" clId="{BA2F2C09-4EF8-403F-BFCC-AFEB6DB3976D}" dt="2026-09-22T14:28:29.367" v="8" actId="1076"/>
          <ac:picMkLst>
            <pc:docMk/>
            <pc:sldMk cId="0" sldId="269"/>
            <ac:picMk id="9" creationId="{5EDFECE5-173C-6064-FA2E-12ABFA5F733D}"/>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62093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to our IDP Review II presentation. Our project is BridgeGuard ML, which focuses on applying explainable machine learning to bridge structural health monitoring. We are focusing on health-relative feature extraction rather than arbitrary absolute thresholds.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the agenda for our presentation. We will start with the problem motivation, review the literature and research gaps, introduce our proposed methodology and architecture, discuss our ML selection and explainability strategy, and conclude with our initial prototype and future work.</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Bridges undergo continuous dynamic loading, making periodic manual inspections insufficient. While sensors provide continuous data, raw signals are hard to interpret. Crucially, because every bridge is different, a fixed absolute threshold for safety doesn't work. Our research challenge is determining how to make ML models adaptable to bridge-specific behavior while keeping predictions interpretable.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literature survey identifies that while ML is highly effective for SHM, many models treat absolute sensor data as universal, suffer from black-box unexplainability, and struggle to generalize due to environmental variations. Our response emphasizes normalized features and SHAP explainability.</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literature survey identifies that while ML is highly effective for SHM, many models treat absolute sensor data as universal, suffer from black-box unexplainability, and struggle to generalize due to environmental variations. Our response emphasizes normalized features and SHAP explainability.</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literature survey identifies that while ML is highly effective for SHM, many models treat absolute sensor data as universal, suffer from black-box unexplainability, and struggle to generalize due to environmental variations. Our response emphasizes normalized features and SHAP explainability.</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literature survey identifies that while ML is highly effective for SHM, many models treat absolute sensor data as universal, suffer from black-box unexplainability, and struggle to generalize due to environmental variations. Our response emphasizes normalized features and SHAP explainability.</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literature survey identifies that while ML is highly effective for SHM, many models treat absolute sensor data as universal, suffer from black-box unexplainability, and struggle to generalize due to environmental variations. Our response emphasizes normalized features and SHAP explainability.</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literature highlights several gaps: absolute sensor values don't transfer across bridges, and complex ML models are often black boxes. We propose a direction focusing on health-relative features normalized against a bridge-specific baseline, combined with rigorous ML comparison and SHAP explainability.</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objectives are highly focused on this gap. We aim to develop health-relative feature extraction, establish healthy baselines, compare various ML algorithms rather than assuming one is best, and integrate SHAP explainability into a working dashboard prototype.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methodology moves from data sources—including real datasets and future miniature models—through preprocessing and health-relative feature extraction. Critically, we perform bridge-specific normalization before comparing ML algorithms. The selected model's predictions will then be explained using SHAP.</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our proposed system architecture. It outlines the data flow from future physical sensors or current datasets, through our software pipeline of extraction, normalization, and ML processing, ultimately feeding the explanation and prediction into the dashboard.</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are not assuming Random Forest is the best model blindly. We will evaluate multiple candidates including Logistic Regression, SVM, and ensembles like XGBoost and Isolation Forest on the same feature set, and strictly select the final model based on experimental validation metrics.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For our initial implementation, we have successfully developed the working software prototype and simulation dashboard. Current progress includes the UI and simulated health visualization. We are actively progressing on real dataset preprocessing, health-relative feature extraction, ML comparison, and hardware integration.</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Moving forward, our expected output includes anomaly indication and SHAP feature contributions. Our future work strictly follows the pipeline: preprocessing datasets, extracting relative features, evaluating ML robustness, integrating SHAP, and finally validating with physical ESP32 sensors on a miniature bridge.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are our references, including 15 key academic papers covering ML for SHM, operational variability, and explainability, as well as the real-world Vänersborg Bridge SHM Dataset from Zenodo.</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914400"/>
            <a:ext cx="10360152" cy="1371600"/>
          </a:xfrm>
          <a:prstGeom prst="rect">
            <a:avLst/>
          </a:prstGeom>
          <a:noFill/>
        </p:spPr>
        <p:txBody>
          <a:bodyPr wrap="none">
            <a:spAutoFit/>
          </a:bodyPr>
          <a:lstStyle/>
          <a:p>
            <a:endParaRPr/>
          </a:p>
          <a:p>
            <a:pPr algn="ctr">
              <a:defRPr sz="5400" b="1">
                <a:solidFill>
                  <a:srgbClr val="111827"/>
                </a:solidFill>
              </a:defRPr>
            </a:pPr>
            <a:r>
              <a:t>BridgeGuard ML</a:t>
            </a:r>
          </a:p>
        </p:txBody>
      </p:sp>
      <p:sp>
        <p:nvSpPr>
          <p:cNvPr id="3" name="TextBox 2"/>
          <p:cNvSpPr txBox="1"/>
          <p:nvPr/>
        </p:nvSpPr>
        <p:spPr>
          <a:xfrm>
            <a:off x="914400" y="2011680"/>
            <a:ext cx="10360152" cy="914400"/>
          </a:xfrm>
          <a:prstGeom prst="rect">
            <a:avLst/>
          </a:prstGeom>
          <a:noFill/>
        </p:spPr>
        <p:txBody>
          <a:bodyPr wrap="none">
            <a:spAutoFit/>
          </a:bodyPr>
          <a:lstStyle/>
          <a:p>
            <a:endParaRPr/>
          </a:p>
          <a:p>
            <a:pPr algn="ctr">
              <a:defRPr sz="2800">
                <a:solidFill>
                  <a:srgbClr val="2563EB"/>
                </a:solidFill>
              </a:defRPr>
            </a:pPr>
            <a:r>
              <a:t>Explainable Machine Learning for Bridge Structural Health Monitoring</a:t>
            </a:r>
          </a:p>
        </p:txBody>
      </p:sp>
      <p:sp>
        <p:nvSpPr>
          <p:cNvPr id="4" name="TextBox 3"/>
          <p:cNvSpPr txBox="1"/>
          <p:nvPr/>
        </p:nvSpPr>
        <p:spPr>
          <a:xfrm>
            <a:off x="1371600" y="3474720"/>
            <a:ext cx="4572000" cy="2743200"/>
          </a:xfrm>
          <a:prstGeom prst="rect">
            <a:avLst/>
          </a:prstGeom>
          <a:noFill/>
        </p:spPr>
        <p:txBody>
          <a:bodyPr wrap="none">
            <a:spAutoFit/>
          </a:bodyPr>
          <a:lstStyle/>
          <a:p>
            <a:pPr>
              <a:defRPr sz="1600">
                <a:solidFill>
                  <a:srgbClr val="111827"/>
                </a:solidFill>
              </a:defRPr>
            </a:pPr>
            <a:r>
              <a:t>IDP Review II</a:t>
            </a:r>
          </a:p>
          <a:p>
            <a:pPr>
              <a:defRPr sz="1600">
                <a:solidFill>
                  <a:srgbClr val="111827"/>
                </a:solidFill>
              </a:defRPr>
            </a:pPr>
            <a:r>
              <a:t>AY 2026–2027</a:t>
            </a:r>
          </a:p>
          <a:p>
            <a:pPr>
              <a:defRPr sz="1600">
                <a:solidFill>
                  <a:srgbClr val="111827"/>
                </a:solidFill>
              </a:defRPr>
            </a:pPr>
            <a:r>
              <a:t>Project ID: 202600749</a:t>
            </a:r>
          </a:p>
          <a:p>
            <a:pPr>
              <a:defRPr sz="1600">
                <a:solidFill>
                  <a:srgbClr val="111827"/>
                </a:solidFill>
              </a:defRPr>
            </a:pPr>
            <a:endParaRPr/>
          </a:p>
          <a:p>
            <a:pPr>
              <a:defRPr sz="1600">
                <a:solidFill>
                  <a:srgbClr val="111827"/>
                </a:solidFill>
              </a:defRPr>
            </a:pPr>
            <a:r>
              <a:t>Institution:</a:t>
            </a:r>
          </a:p>
          <a:p>
            <a:pPr>
              <a:defRPr sz="1600">
                <a:solidFill>
                  <a:srgbClr val="111827"/>
                </a:solidFill>
              </a:defRPr>
            </a:pPr>
            <a:r>
              <a:t>VIT Chennai</a:t>
            </a:r>
          </a:p>
        </p:txBody>
      </p:sp>
      <p:sp>
        <p:nvSpPr>
          <p:cNvPr id="5" name="TextBox 4"/>
          <p:cNvSpPr txBox="1"/>
          <p:nvPr/>
        </p:nvSpPr>
        <p:spPr>
          <a:xfrm>
            <a:off x="6858000" y="3474720"/>
            <a:ext cx="4572000" cy="2743200"/>
          </a:xfrm>
          <a:prstGeom prst="rect">
            <a:avLst/>
          </a:prstGeom>
          <a:noFill/>
        </p:spPr>
        <p:txBody>
          <a:bodyPr wrap="none">
            <a:spAutoFit/>
          </a:bodyPr>
          <a:lstStyle/>
          <a:p>
            <a:pPr>
              <a:defRPr sz="1600">
                <a:solidFill>
                  <a:srgbClr val="111827"/>
                </a:solidFill>
              </a:defRPr>
            </a:pPr>
            <a:r>
              <a:t>Team:</a:t>
            </a:r>
          </a:p>
          <a:p>
            <a:pPr>
              <a:defRPr sz="1600">
                <a:solidFill>
                  <a:srgbClr val="111827"/>
                </a:solidFill>
              </a:defRPr>
            </a:pPr>
            <a:r>
              <a:t>25BAI1241 – Avula Tarun</a:t>
            </a:r>
          </a:p>
          <a:p>
            <a:pPr>
              <a:defRPr sz="1600">
                <a:solidFill>
                  <a:srgbClr val="111827"/>
                </a:solidFill>
              </a:defRPr>
            </a:pPr>
            <a:r>
              <a:t>25BAI1139 – N Anudeep</a:t>
            </a:r>
          </a:p>
          <a:p>
            <a:pPr>
              <a:defRPr sz="1600">
                <a:solidFill>
                  <a:srgbClr val="111827"/>
                </a:solidFill>
              </a:defRPr>
            </a:pPr>
            <a:r>
              <a:t>25BAI1392 – Ayush Sharma</a:t>
            </a:r>
          </a:p>
          <a:p>
            <a:pPr>
              <a:defRPr sz="1600">
                <a:solidFill>
                  <a:srgbClr val="111827"/>
                </a:solidFill>
              </a:defRPr>
            </a:pPr>
            <a:endParaRPr/>
          </a:p>
          <a:p>
            <a:pPr>
              <a:defRPr sz="1600">
                <a:solidFill>
                  <a:srgbClr val="111827"/>
                </a:solidFill>
              </a:defRPr>
            </a:pPr>
            <a:r>
              <a:t>Guide:</a:t>
            </a:r>
          </a:p>
          <a:p>
            <a:pPr>
              <a:defRPr sz="1600">
                <a:solidFill>
                  <a:srgbClr val="111827"/>
                </a:solidFill>
              </a:defRPr>
            </a:pPr>
            <a:r>
              <a:t>Padma J</a:t>
            </a:r>
          </a:p>
          <a:p>
            <a:pPr>
              <a:defRPr sz="1600">
                <a:solidFill>
                  <a:srgbClr val="111827"/>
                </a:solidFill>
              </a:defRPr>
            </a:pPr>
            <a:r>
              <a:t>Employee ID: 53408</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6400800"/>
            <a:ext cx="8229600" cy="457200"/>
          </a:xfrm>
          <a:prstGeom prst="rect">
            <a:avLst/>
          </a:prstGeom>
          <a:noFill/>
        </p:spPr>
        <p:txBody>
          <a:bodyPr wrap="none">
            <a:spAutoFit/>
          </a:bodyPr>
          <a:lstStyle/>
          <a:p>
            <a:endParaRPr/>
          </a:p>
          <a:p>
            <a:pPr>
              <a:defRPr sz="1000">
                <a:solidFill>
                  <a:srgbClr val="64748B"/>
                </a:solidFill>
              </a:defRPr>
            </a:pPr>
            <a:r>
              <a:t>BRIDGEGUARD ML | IDP Review II | Project ID: 202600749</a:t>
            </a:r>
          </a:p>
        </p:txBody>
      </p:sp>
      <p:sp>
        <p:nvSpPr>
          <p:cNvPr id="3" name="TextBox 2"/>
          <p:cNvSpPr txBox="1"/>
          <p:nvPr/>
        </p:nvSpPr>
        <p:spPr>
          <a:xfrm>
            <a:off x="457200" y="365760"/>
            <a:ext cx="11274552" cy="914400"/>
          </a:xfrm>
          <a:prstGeom prst="rect">
            <a:avLst/>
          </a:prstGeom>
          <a:noFill/>
        </p:spPr>
        <p:txBody>
          <a:bodyPr wrap="none">
            <a:spAutoFit/>
          </a:bodyPr>
          <a:lstStyle/>
          <a:p>
            <a:endParaRPr/>
          </a:p>
          <a:p>
            <a:pPr>
              <a:defRPr sz="3600" b="1">
                <a:solidFill>
                  <a:srgbClr val="111827"/>
                </a:solidFill>
              </a:defRPr>
            </a:pPr>
            <a:r>
              <a:t>AGENDA</a:t>
            </a:r>
          </a:p>
        </p:txBody>
      </p:sp>
      <p:sp>
        <p:nvSpPr>
          <p:cNvPr id="4" name="TextBox 3"/>
          <p:cNvSpPr txBox="1"/>
          <p:nvPr/>
        </p:nvSpPr>
        <p:spPr>
          <a:xfrm>
            <a:off x="1371600" y="1645920"/>
            <a:ext cx="4572000" cy="4572000"/>
          </a:xfrm>
          <a:prstGeom prst="rect">
            <a:avLst/>
          </a:prstGeom>
          <a:noFill/>
        </p:spPr>
        <p:txBody>
          <a:bodyPr wrap="none">
            <a:spAutoFit/>
          </a:bodyPr>
          <a:lstStyle/>
          <a:p>
            <a:endParaRPr/>
          </a:p>
          <a:p>
            <a:pPr>
              <a:spcAft>
                <a:spcPts val="2000"/>
              </a:spcAft>
              <a:defRPr sz="2400">
                <a:solidFill>
                  <a:srgbClr val="2563EB"/>
                </a:solidFill>
              </a:defRPr>
            </a:pPr>
            <a:r>
              <a:t>1. Problem &amp; Motivation</a:t>
            </a:r>
          </a:p>
          <a:p>
            <a:pPr>
              <a:spcAft>
                <a:spcPts val="2000"/>
              </a:spcAft>
              <a:defRPr sz="2400">
                <a:solidFill>
                  <a:srgbClr val="2563EB"/>
                </a:solidFill>
              </a:defRPr>
            </a:pPr>
            <a:r>
              <a:t>2. Literature Survey</a:t>
            </a:r>
          </a:p>
          <a:p>
            <a:pPr>
              <a:spcAft>
                <a:spcPts val="2000"/>
              </a:spcAft>
              <a:defRPr sz="2400">
                <a:solidFill>
                  <a:srgbClr val="2563EB"/>
                </a:solidFill>
              </a:defRPr>
            </a:pPr>
            <a:r>
              <a:t>3. Research Gap</a:t>
            </a:r>
          </a:p>
          <a:p>
            <a:pPr>
              <a:spcAft>
                <a:spcPts val="2000"/>
              </a:spcAft>
              <a:defRPr sz="2400">
                <a:solidFill>
                  <a:srgbClr val="2563EB"/>
                </a:solidFill>
              </a:defRPr>
            </a:pPr>
            <a:r>
              <a:t>4. Objectives</a:t>
            </a:r>
          </a:p>
          <a:p>
            <a:pPr>
              <a:spcAft>
                <a:spcPts val="2000"/>
              </a:spcAft>
              <a:defRPr sz="2400">
                <a:solidFill>
                  <a:srgbClr val="2563EB"/>
                </a:solidFill>
              </a:defRPr>
            </a:pPr>
            <a:r>
              <a:t>5. Proposed Methodology</a:t>
            </a:r>
          </a:p>
        </p:txBody>
      </p:sp>
      <p:sp>
        <p:nvSpPr>
          <p:cNvPr id="5" name="TextBox 4"/>
          <p:cNvSpPr txBox="1"/>
          <p:nvPr/>
        </p:nvSpPr>
        <p:spPr>
          <a:xfrm>
            <a:off x="6400800" y="1645920"/>
            <a:ext cx="4572000" cy="4572000"/>
          </a:xfrm>
          <a:prstGeom prst="rect">
            <a:avLst/>
          </a:prstGeom>
          <a:noFill/>
        </p:spPr>
        <p:txBody>
          <a:bodyPr wrap="none">
            <a:spAutoFit/>
          </a:bodyPr>
          <a:lstStyle/>
          <a:p>
            <a:endParaRPr/>
          </a:p>
          <a:p>
            <a:pPr>
              <a:spcAft>
                <a:spcPts val="2000"/>
              </a:spcAft>
              <a:defRPr sz="2400">
                <a:solidFill>
                  <a:srgbClr val="2563EB"/>
                </a:solidFill>
              </a:defRPr>
            </a:pPr>
            <a:r>
              <a:t>6. ML Algorithm Selection</a:t>
            </a:r>
          </a:p>
          <a:p>
            <a:pPr>
              <a:spcAft>
                <a:spcPts val="2000"/>
              </a:spcAft>
              <a:defRPr sz="2400">
                <a:solidFill>
                  <a:srgbClr val="2563EB"/>
                </a:solidFill>
              </a:defRPr>
            </a:pPr>
            <a:r>
              <a:t>7. System Architecture</a:t>
            </a:r>
          </a:p>
          <a:p>
            <a:pPr>
              <a:spcAft>
                <a:spcPts val="2000"/>
              </a:spcAft>
              <a:defRPr sz="2400">
                <a:solidFill>
                  <a:srgbClr val="2563EB"/>
                </a:solidFill>
              </a:defRPr>
            </a:pPr>
            <a:r>
              <a:t>8. Initial Prototype</a:t>
            </a:r>
          </a:p>
          <a:p>
            <a:pPr>
              <a:spcAft>
                <a:spcPts val="2000"/>
              </a:spcAft>
              <a:defRPr sz="2400">
                <a:solidFill>
                  <a:srgbClr val="2563EB"/>
                </a:solidFill>
              </a:defRPr>
            </a:pPr>
            <a:r>
              <a:t>9. Explainable AI</a:t>
            </a:r>
          </a:p>
          <a:p>
            <a:pPr>
              <a:spcAft>
                <a:spcPts val="2000"/>
              </a:spcAft>
              <a:defRPr sz="2400">
                <a:solidFill>
                  <a:srgbClr val="2563EB"/>
                </a:solidFill>
              </a:defRPr>
            </a:pPr>
            <a:r>
              <a:t>10. Future Work</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6400800"/>
            <a:ext cx="8229600" cy="457200"/>
          </a:xfrm>
          <a:prstGeom prst="rect">
            <a:avLst/>
          </a:prstGeom>
          <a:noFill/>
        </p:spPr>
        <p:txBody>
          <a:bodyPr wrap="none">
            <a:spAutoFit/>
          </a:bodyPr>
          <a:lstStyle/>
          <a:p>
            <a:endParaRPr/>
          </a:p>
          <a:p>
            <a:pPr>
              <a:defRPr sz="1000">
                <a:solidFill>
                  <a:srgbClr val="64748B"/>
                </a:solidFill>
              </a:defRPr>
            </a:pPr>
            <a:r>
              <a:t>BRIDGEGUARD ML | IDP Review II | Project ID: 202600749</a:t>
            </a:r>
          </a:p>
        </p:txBody>
      </p:sp>
      <p:sp>
        <p:nvSpPr>
          <p:cNvPr id="3" name="TextBox 2"/>
          <p:cNvSpPr txBox="1"/>
          <p:nvPr/>
        </p:nvSpPr>
        <p:spPr>
          <a:xfrm>
            <a:off x="457200" y="365760"/>
            <a:ext cx="11274552" cy="914400"/>
          </a:xfrm>
          <a:prstGeom prst="rect">
            <a:avLst/>
          </a:prstGeom>
          <a:noFill/>
        </p:spPr>
        <p:txBody>
          <a:bodyPr wrap="none">
            <a:spAutoFit/>
          </a:bodyPr>
          <a:lstStyle/>
          <a:p>
            <a:endParaRPr/>
          </a:p>
          <a:p>
            <a:pPr>
              <a:defRPr sz="3600" b="1">
                <a:solidFill>
                  <a:srgbClr val="111827"/>
                </a:solidFill>
              </a:defRPr>
            </a:pPr>
            <a:r>
              <a:t>PROBLEM &amp; MOTIVATION</a:t>
            </a:r>
          </a:p>
        </p:txBody>
      </p:sp>
      <p:sp>
        <p:nvSpPr>
          <p:cNvPr id="4" name="TextBox 3"/>
          <p:cNvSpPr txBox="1"/>
          <p:nvPr/>
        </p:nvSpPr>
        <p:spPr>
          <a:xfrm>
            <a:off x="457200" y="1371600"/>
            <a:ext cx="11274552" cy="3657600"/>
          </a:xfrm>
          <a:prstGeom prst="rect">
            <a:avLst/>
          </a:prstGeom>
          <a:noFill/>
        </p:spPr>
        <p:txBody>
          <a:bodyPr wrap="none">
            <a:spAutoFit/>
          </a:bodyPr>
          <a:lstStyle/>
          <a:p>
            <a:endParaRPr/>
          </a:p>
          <a:p>
            <a:pPr>
              <a:spcAft>
                <a:spcPts val="1000"/>
              </a:spcAft>
              <a:defRPr sz="2000">
                <a:solidFill>
                  <a:srgbClr val="111827"/>
                </a:solidFill>
              </a:defRPr>
            </a:pPr>
            <a:r>
              <a:t>• Bridges experience continuous dynamic and environmental loading.</a:t>
            </a:r>
          </a:p>
          <a:p>
            <a:pPr>
              <a:spcAft>
                <a:spcPts val="1000"/>
              </a:spcAft>
              <a:defRPr sz="2000">
                <a:solidFill>
                  <a:srgbClr val="111827"/>
                </a:solidFill>
              </a:defRPr>
            </a:pPr>
            <a:r>
              <a:t>• Traditional inspection is periodic; sensor-based SHM enables continuous monitoring.</a:t>
            </a:r>
          </a:p>
          <a:p>
            <a:pPr>
              <a:spcAft>
                <a:spcPts val="1000"/>
              </a:spcAft>
              <a:defRPr sz="2000">
                <a:solidFill>
                  <a:srgbClr val="111827"/>
                </a:solidFill>
              </a:defRPr>
            </a:pPr>
            <a:r>
              <a:t>• Raw sensor measurements alone are difficult to interpret.</a:t>
            </a:r>
          </a:p>
          <a:p>
            <a:pPr>
              <a:spcAft>
                <a:spcPts val="1000"/>
              </a:spcAft>
              <a:defRPr sz="2000">
                <a:solidFill>
                  <a:srgbClr val="111827"/>
                </a:solidFill>
              </a:defRPr>
            </a:pPr>
            <a:r>
              <a:t>• Different bridges have different normal response ranges (geometry, materials, environment).</a:t>
            </a:r>
          </a:p>
          <a:p>
            <a:pPr>
              <a:spcAft>
                <a:spcPts val="1000"/>
              </a:spcAft>
              <a:defRPr sz="2000">
                <a:solidFill>
                  <a:srgbClr val="111827"/>
                </a:solidFill>
              </a:defRPr>
            </a:pPr>
            <a:r>
              <a:t>• Fixed absolute thresholds can therefore generate misleading decisions.</a:t>
            </a:r>
          </a:p>
          <a:p>
            <a:pPr>
              <a:spcAft>
                <a:spcPts val="1000"/>
              </a:spcAft>
              <a:defRPr sz="2000">
                <a:solidFill>
                  <a:srgbClr val="111827"/>
                </a:solidFill>
              </a:defRPr>
            </a:pPr>
            <a:r>
              <a:t>• Machine Learning can learn patterns from health-relevant features.</a:t>
            </a:r>
          </a:p>
          <a:p>
            <a:pPr>
              <a:spcAft>
                <a:spcPts val="1000"/>
              </a:spcAft>
              <a:defRPr sz="2000">
                <a:solidFill>
                  <a:srgbClr val="111827"/>
                </a:solidFill>
              </a:defRPr>
            </a:pPr>
            <a:r>
              <a:t>• Explainable AI can make model predictions easier to interpret for engineers.</a:t>
            </a:r>
          </a:p>
        </p:txBody>
      </p:sp>
      <p:sp>
        <p:nvSpPr>
          <p:cNvPr id="5" name="TextBox 4"/>
          <p:cNvSpPr txBox="1"/>
          <p:nvPr/>
        </p:nvSpPr>
        <p:spPr>
          <a:xfrm>
            <a:off x="457200" y="5029200"/>
            <a:ext cx="9716763" cy="1231106"/>
          </a:xfrm>
          <a:prstGeom prst="rect">
            <a:avLst/>
          </a:prstGeom>
          <a:solidFill>
            <a:srgbClr val="F1F5F9"/>
          </a:solidFill>
          <a:ln>
            <a:solidFill>
              <a:srgbClr val="2563EB"/>
            </a:solidFill>
          </a:ln>
        </p:spPr>
        <p:txBody>
          <a:bodyPr wrap="none">
            <a:spAutoFit/>
          </a:bodyPr>
          <a:lstStyle/>
          <a:p>
            <a:endParaRPr dirty="0"/>
          </a:p>
          <a:p>
            <a:pPr>
              <a:defRPr sz="1600" b="1">
                <a:solidFill>
                  <a:srgbClr val="2563EB"/>
                </a:solidFill>
              </a:defRPr>
            </a:pPr>
            <a:r>
              <a:rPr dirty="0"/>
              <a:t>RESEARCH CHALLENGE</a:t>
            </a:r>
          </a:p>
          <a:p>
            <a:pPr>
              <a:defRPr sz="2000" b="1">
                <a:solidFill>
                  <a:srgbClr val="111827"/>
                </a:solidFill>
              </a:defRPr>
            </a:pPr>
            <a:r>
              <a:rPr dirty="0"/>
              <a:t>How can ML-based bridge condition detection remain relevant to bridge-specific behavior</a:t>
            </a:r>
            <a:br>
              <a:rPr lang="en-IN" dirty="0"/>
            </a:br>
            <a:r>
              <a:rPr dirty="0"/>
              <a:t> while providing interpretable predictions?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6400800"/>
            <a:ext cx="8229600" cy="457200"/>
          </a:xfrm>
          <a:prstGeom prst="rect">
            <a:avLst/>
          </a:prstGeom>
          <a:noFill/>
        </p:spPr>
        <p:txBody>
          <a:bodyPr wrap="none">
            <a:spAutoFit/>
          </a:bodyPr>
          <a:lstStyle/>
          <a:p>
            <a:endParaRPr/>
          </a:p>
          <a:p>
            <a:pPr>
              <a:defRPr sz="1000">
                <a:solidFill>
                  <a:srgbClr val="64748B"/>
                </a:solidFill>
              </a:defRPr>
            </a:pPr>
            <a:r>
              <a:t>BRIDGEGUARD ML | IDP Review II | Project ID: 202600749</a:t>
            </a:r>
          </a:p>
        </p:txBody>
      </p:sp>
      <p:sp>
        <p:nvSpPr>
          <p:cNvPr id="3" name="TextBox 2"/>
          <p:cNvSpPr txBox="1"/>
          <p:nvPr/>
        </p:nvSpPr>
        <p:spPr>
          <a:xfrm>
            <a:off x="457200" y="365760"/>
            <a:ext cx="11274552" cy="914400"/>
          </a:xfrm>
          <a:prstGeom prst="rect">
            <a:avLst/>
          </a:prstGeom>
          <a:noFill/>
        </p:spPr>
        <p:txBody>
          <a:bodyPr wrap="none">
            <a:spAutoFit/>
          </a:bodyPr>
          <a:lstStyle/>
          <a:p>
            <a:endParaRPr/>
          </a:p>
          <a:p>
            <a:pPr>
              <a:defRPr sz="3600" b="1">
                <a:solidFill>
                  <a:srgbClr val="111827"/>
                </a:solidFill>
              </a:defRPr>
            </a:pPr>
            <a:r>
              <a:t>LITERATURE SURVEY (1/5)</a:t>
            </a:r>
          </a:p>
        </p:txBody>
      </p:sp>
      <p:graphicFrame>
        <p:nvGraphicFramePr>
          <p:cNvPr id="4" name="Table 3"/>
          <p:cNvGraphicFramePr>
            <a:graphicFrameLocks noGrp="1"/>
          </p:cNvGraphicFramePr>
          <p:nvPr/>
        </p:nvGraphicFramePr>
        <p:xfrm>
          <a:off x="457200" y="1371600"/>
          <a:ext cx="11274552" cy="4572000"/>
        </p:xfrm>
        <a:graphic>
          <a:graphicData uri="http://schemas.openxmlformats.org/drawingml/2006/table">
            <a:tbl>
              <a:tblPr firstRow="1" bandRow="1">
                <a:tableStyleId>{5C22544A-7EE6-4342-B048-85BDC9FD1C3A}</a:tableStyleId>
              </a:tblPr>
              <a:tblGrid>
                <a:gridCol w="2254910">
                  <a:extLst>
                    <a:ext uri="{9D8B030D-6E8A-4147-A177-3AD203B41FA5}">
                      <a16:colId xmlns:a16="http://schemas.microsoft.com/office/drawing/2014/main" val="20000"/>
                    </a:ext>
                  </a:extLst>
                </a:gridCol>
                <a:gridCol w="2254910">
                  <a:extLst>
                    <a:ext uri="{9D8B030D-6E8A-4147-A177-3AD203B41FA5}">
                      <a16:colId xmlns:a16="http://schemas.microsoft.com/office/drawing/2014/main" val="20001"/>
                    </a:ext>
                  </a:extLst>
                </a:gridCol>
                <a:gridCol w="2254910">
                  <a:extLst>
                    <a:ext uri="{9D8B030D-6E8A-4147-A177-3AD203B41FA5}">
                      <a16:colId xmlns:a16="http://schemas.microsoft.com/office/drawing/2014/main" val="20002"/>
                    </a:ext>
                  </a:extLst>
                </a:gridCol>
                <a:gridCol w="2254910">
                  <a:extLst>
                    <a:ext uri="{9D8B030D-6E8A-4147-A177-3AD203B41FA5}">
                      <a16:colId xmlns:a16="http://schemas.microsoft.com/office/drawing/2014/main" val="20003"/>
                    </a:ext>
                  </a:extLst>
                </a:gridCol>
                <a:gridCol w="2254912">
                  <a:extLst>
                    <a:ext uri="{9D8B030D-6E8A-4147-A177-3AD203B41FA5}">
                      <a16:colId xmlns:a16="http://schemas.microsoft.com/office/drawing/2014/main" val="20004"/>
                    </a:ext>
                  </a:extLst>
                </a:gridCol>
              </a:tblGrid>
              <a:tr h="1143000">
                <a:tc>
                  <a:txBody>
                    <a:bodyPr/>
                    <a:lstStyle/>
                    <a:p>
                      <a:pPr>
                        <a:defRPr sz="1400" b="1">
                          <a:solidFill>
                            <a:srgbClr val="FFFFFF"/>
                          </a:solidFill>
                        </a:defRPr>
                      </a:pPr>
                      <a:r>
                        <a:t>Paper / Authors</a:t>
                      </a:r>
                    </a:p>
                  </a:txBody>
                  <a:tcPr>
                    <a:solidFill>
                      <a:srgbClr val="2563EB"/>
                    </a:solidFill>
                  </a:tcPr>
                </a:tc>
                <a:tc>
                  <a:txBody>
                    <a:bodyPr/>
                    <a:lstStyle/>
                    <a:p>
                      <a:pPr>
                        <a:defRPr sz="1400" b="1">
                          <a:solidFill>
                            <a:srgbClr val="FFFFFF"/>
                          </a:solidFill>
                        </a:defRPr>
                      </a:pPr>
                      <a:r>
                        <a:t>Focus</a:t>
                      </a:r>
                    </a:p>
                  </a:txBody>
                  <a:tcPr>
                    <a:solidFill>
                      <a:srgbClr val="2563EB"/>
                    </a:solidFill>
                  </a:tcPr>
                </a:tc>
                <a:tc>
                  <a:txBody>
                    <a:bodyPr/>
                    <a:lstStyle/>
                    <a:p>
                      <a:pPr>
                        <a:defRPr sz="1400" b="1">
                          <a:solidFill>
                            <a:srgbClr val="FFFFFF"/>
                          </a:solidFill>
                        </a:defRPr>
                      </a:pPr>
                      <a:r>
                        <a:t>Key Takeaway</a:t>
                      </a:r>
                    </a:p>
                  </a:txBody>
                  <a:tcPr>
                    <a:solidFill>
                      <a:srgbClr val="2563EB"/>
                    </a:solidFill>
                  </a:tcPr>
                </a:tc>
                <a:tc>
                  <a:txBody>
                    <a:bodyPr/>
                    <a:lstStyle/>
                    <a:p>
                      <a:pPr>
                        <a:defRPr sz="1400" b="1">
                          <a:solidFill>
                            <a:srgbClr val="FFFFFF"/>
                          </a:solidFill>
                        </a:defRPr>
                      </a:pPr>
                      <a:r>
                        <a:t>Limitation / Future Scope</a:t>
                      </a:r>
                    </a:p>
                  </a:txBody>
                  <a:tcPr>
                    <a:solidFill>
                      <a:srgbClr val="2563EB"/>
                    </a:solidFill>
                  </a:tcPr>
                </a:tc>
                <a:tc>
                  <a:txBody>
                    <a:bodyPr/>
                    <a:lstStyle/>
                    <a:p>
                      <a:pPr>
                        <a:defRPr sz="1400" b="1">
                          <a:solidFill>
                            <a:srgbClr val="FFFFFF"/>
                          </a:solidFill>
                        </a:defRPr>
                      </a:pPr>
                      <a:r>
                        <a:t>Our Proposed Response</a:t>
                      </a:r>
                    </a:p>
                  </a:txBody>
                  <a:tcPr>
                    <a:solidFill>
                      <a:srgbClr val="2563EB"/>
                    </a:solidFill>
                  </a:tcPr>
                </a:tc>
                <a:extLst>
                  <a:ext uri="{0D108BD9-81ED-4DB2-BD59-A6C34878D82A}">
                    <a16:rowId xmlns:a16="http://schemas.microsoft.com/office/drawing/2014/main" val="10000"/>
                  </a:ext>
                </a:extLst>
              </a:tr>
              <a:tr h="1143000">
                <a:tc>
                  <a:txBody>
                    <a:bodyPr/>
                    <a:lstStyle/>
                    <a:p>
                      <a:pPr>
                        <a:defRPr sz="1200">
                          <a:solidFill>
                            <a:srgbClr val="111827"/>
                          </a:solidFill>
                        </a:defRPr>
                      </a:pPr>
                      <a:r>
                        <a:t>Worden &amp; Manson (2007)</a:t>
                      </a:r>
                    </a:p>
                  </a:txBody>
                  <a:tcPr/>
                </a:tc>
                <a:tc>
                  <a:txBody>
                    <a:bodyPr/>
                    <a:lstStyle/>
                    <a:p>
                      <a:pPr>
                        <a:defRPr sz="1200">
                          <a:solidFill>
                            <a:srgbClr val="111827"/>
                          </a:solidFill>
                        </a:defRPr>
                      </a:pPr>
                      <a:r>
                        <a:t>ML application in SHM</a:t>
                      </a:r>
                    </a:p>
                  </a:txBody>
                  <a:tcPr/>
                </a:tc>
                <a:tc>
                  <a:txBody>
                    <a:bodyPr/>
                    <a:lstStyle/>
                    <a:p>
                      <a:pPr>
                        <a:defRPr sz="1200">
                          <a:solidFill>
                            <a:srgbClr val="111827"/>
                          </a:solidFill>
                        </a:defRPr>
                      </a:pPr>
                      <a:r>
                        <a:t>Pattern recognition is fundamental to SHM.</a:t>
                      </a:r>
                    </a:p>
                  </a:txBody>
                  <a:tcPr/>
                </a:tc>
                <a:tc>
                  <a:txBody>
                    <a:bodyPr/>
                    <a:lstStyle/>
                    <a:p>
                      <a:pPr>
                        <a:defRPr sz="1200">
                          <a:solidFill>
                            <a:srgbClr val="111827"/>
                          </a:solidFill>
                        </a:defRPr>
                      </a:pPr>
                      <a:r>
                        <a:t>Relies heavily on absolute labeled data.</a:t>
                      </a:r>
                    </a:p>
                  </a:txBody>
                  <a:tcPr/>
                </a:tc>
                <a:tc>
                  <a:txBody>
                    <a:bodyPr/>
                    <a:lstStyle/>
                    <a:p>
                      <a:pPr>
                        <a:defRPr sz="1200">
                          <a:solidFill>
                            <a:srgbClr val="111827"/>
                          </a:solidFill>
                        </a:defRPr>
                      </a:pPr>
                      <a:r>
                        <a:t>Use bridge-specific normalization.</a:t>
                      </a:r>
                    </a:p>
                  </a:txBody>
                  <a:tcPr/>
                </a:tc>
                <a:extLst>
                  <a:ext uri="{0D108BD9-81ED-4DB2-BD59-A6C34878D82A}">
                    <a16:rowId xmlns:a16="http://schemas.microsoft.com/office/drawing/2014/main" val="10001"/>
                  </a:ext>
                </a:extLst>
              </a:tr>
              <a:tr h="1143000">
                <a:tc>
                  <a:txBody>
                    <a:bodyPr/>
                    <a:lstStyle/>
                    <a:p>
                      <a:pPr>
                        <a:defRPr sz="1200">
                          <a:solidFill>
                            <a:srgbClr val="111827"/>
                          </a:solidFill>
                        </a:defRPr>
                      </a:pPr>
                      <a:r>
                        <a:t>Farrar &amp; Worden (2012)</a:t>
                      </a:r>
                    </a:p>
                  </a:txBody>
                  <a:tcPr/>
                </a:tc>
                <a:tc>
                  <a:txBody>
                    <a:bodyPr/>
                    <a:lstStyle/>
                    <a:p>
                      <a:pPr>
                        <a:defRPr sz="1200">
                          <a:solidFill>
                            <a:srgbClr val="111827"/>
                          </a:solidFill>
                        </a:defRPr>
                      </a:pPr>
                      <a:r>
                        <a:t>SHM machine learning framework</a:t>
                      </a:r>
                    </a:p>
                  </a:txBody>
                  <a:tcPr/>
                </a:tc>
                <a:tc>
                  <a:txBody>
                    <a:bodyPr/>
                    <a:lstStyle/>
                    <a:p>
                      <a:pPr>
                        <a:defRPr sz="1200">
                          <a:solidFill>
                            <a:srgbClr val="111827"/>
                          </a:solidFill>
                        </a:defRPr>
                      </a:pPr>
                      <a:r>
                        <a:t>Damage detection is statistical pattern recognition.</a:t>
                      </a:r>
                    </a:p>
                  </a:txBody>
                  <a:tcPr/>
                </a:tc>
                <a:tc>
                  <a:txBody>
                    <a:bodyPr/>
                    <a:lstStyle/>
                    <a:p>
                      <a:pPr>
                        <a:defRPr sz="1200">
                          <a:solidFill>
                            <a:srgbClr val="111827"/>
                          </a:solidFill>
                        </a:defRPr>
                      </a:pPr>
                      <a:r>
                        <a:t>Environmental variability complicates baseline.</a:t>
                      </a:r>
                    </a:p>
                  </a:txBody>
                  <a:tcPr/>
                </a:tc>
                <a:tc>
                  <a:txBody>
                    <a:bodyPr/>
                    <a:lstStyle/>
                    <a:p>
                      <a:pPr>
                        <a:defRPr sz="1200">
                          <a:solidFill>
                            <a:srgbClr val="111827"/>
                          </a:solidFill>
                        </a:defRPr>
                      </a:pPr>
                      <a:r>
                        <a:t>Focus on health-relative features.</a:t>
                      </a:r>
                    </a:p>
                  </a:txBody>
                  <a:tcPr/>
                </a:tc>
                <a:extLst>
                  <a:ext uri="{0D108BD9-81ED-4DB2-BD59-A6C34878D82A}">
                    <a16:rowId xmlns:a16="http://schemas.microsoft.com/office/drawing/2014/main" val="10002"/>
                  </a:ext>
                </a:extLst>
              </a:tr>
              <a:tr h="1143000">
                <a:tc>
                  <a:txBody>
                    <a:bodyPr/>
                    <a:lstStyle/>
                    <a:p>
                      <a:pPr>
                        <a:defRPr sz="1200">
                          <a:solidFill>
                            <a:srgbClr val="111827"/>
                          </a:solidFill>
                        </a:defRPr>
                      </a:pPr>
                      <a:r>
                        <a:t>Avci et al. (2021)</a:t>
                      </a:r>
                    </a:p>
                  </a:txBody>
                  <a:tcPr/>
                </a:tc>
                <a:tc>
                  <a:txBody>
                    <a:bodyPr/>
                    <a:lstStyle/>
                    <a:p>
                      <a:pPr>
                        <a:defRPr sz="1200">
                          <a:solidFill>
                            <a:srgbClr val="111827"/>
                          </a:solidFill>
                        </a:defRPr>
                      </a:pPr>
                      <a:r>
                        <a:t>Vibration-based damage detection</a:t>
                      </a:r>
                    </a:p>
                  </a:txBody>
                  <a:tcPr/>
                </a:tc>
                <a:tc>
                  <a:txBody>
                    <a:bodyPr/>
                    <a:lstStyle/>
                    <a:p>
                      <a:pPr>
                        <a:defRPr sz="1200">
                          <a:solidFill>
                            <a:srgbClr val="111827"/>
                          </a:solidFill>
                        </a:defRPr>
                      </a:pPr>
                      <a:r>
                        <a:t>Deep learning removes manual extraction.</a:t>
                      </a:r>
                    </a:p>
                  </a:txBody>
                  <a:tcPr/>
                </a:tc>
                <a:tc>
                  <a:txBody>
                    <a:bodyPr/>
                    <a:lstStyle/>
                    <a:p>
                      <a:pPr>
                        <a:defRPr sz="1200">
                          <a:solidFill>
                            <a:srgbClr val="111827"/>
                          </a:solidFill>
                        </a:defRPr>
                      </a:pPr>
                      <a:r>
                        <a:t>Lack of explainability in deep models.</a:t>
                      </a:r>
                    </a:p>
                  </a:txBody>
                  <a:tcPr/>
                </a:tc>
                <a:tc>
                  <a:txBody>
                    <a:bodyPr/>
                    <a:lstStyle/>
                    <a:p>
                      <a:pPr>
                        <a:defRPr sz="1200">
                          <a:solidFill>
                            <a:srgbClr val="111827"/>
                          </a:solidFill>
                        </a:defRPr>
                      </a:pPr>
                      <a:r>
                        <a:t>Integrate SHAP for explainability.</a:t>
                      </a: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6400800"/>
            <a:ext cx="8229600" cy="457200"/>
          </a:xfrm>
          <a:prstGeom prst="rect">
            <a:avLst/>
          </a:prstGeom>
          <a:noFill/>
        </p:spPr>
        <p:txBody>
          <a:bodyPr wrap="none">
            <a:spAutoFit/>
          </a:bodyPr>
          <a:lstStyle/>
          <a:p>
            <a:endParaRPr/>
          </a:p>
          <a:p>
            <a:pPr>
              <a:defRPr sz="1000">
                <a:solidFill>
                  <a:srgbClr val="64748B"/>
                </a:solidFill>
              </a:defRPr>
            </a:pPr>
            <a:r>
              <a:t>BRIDGEGUARD ML | IDP Review II | Project ID: 202600749</a:t>
            </a:r>
          </a:p>
        </p:txBody>
      </p:sp>
      <p:sp>
        <p:nvSpPr>
          <p:cNvPr id="3" name="TextBox 2"/>
          <p:cNvSpPr txBox="1"/>
          <p:nvPr/>
        </p:nvSpPr>
        <p:spPr>
          <a:xfrm>
            <a:off x="457200" y="365760"/>
            <a:ext cx="11274552" cy="914400"/>
          </a:xfrm>
          <a:prstGeom prst="rect">
            <a:avLst/>
          </a:prstGeom>
          <a:noFill/>
        </p:spPr>
        <p:txBody>
          <a:bodyPr wrap="none">
            <a:spAutoFit/>
          </a:bodyPr>
          <a:lstStyle/>
          <a:p>
            <a:endParaRPr/>
          </a:p>
          <a:p>
            <a:pPr>
              <a:defRPr sz="3600" b="1">
                <a:solidFill>
                  <a:srgbClr val="111827"/>
                </a:solidFill>
              </a:defRPr>
            </a:pPr>
            <a:r>
              <a:t>LITERATURE SURVEY (2/5)</a:t>
            </a:r>
          </a:p>
        </p:txBody>
      </p:sp>
      <p:graphicFrame>
        <p:nvGraphicFramePr>
          <p:cNvPr id="4" name="Table 3"/>
          <p:cNvGraphicFramePr>
            <a:graphicFrameLocks noGrp="1"/>
          </p:cNvGraphicFramePr>
          <p:nvPr/>
        </p:nvGraphicFramePr>
        <p:xfrm>
          <a:off x="457200" y="1371600"/>
          <a:ext cx="11274552" cy="4572000"/>
        </p:xfrm>
        <a:graphic>
          <a:graphicData uri="http://schemas.openxmlformats.org/drawingml/2006/table">
            <a:tbl>
              <a:tblPr firstRow="1" bandRow="1">
                <a:tableStyleId>{5C22544A-7EE6-4342-B048-85BDC9FD1C3A}</a:tableStyleId>
              </a:tblPr>
              <a:tblGrid>
                <a:gridCol w="2254910">
                  <a:extLst>
                    <a:ext uri="{9D8B030D-6E8A-4147-A177-3AD203B41FA5}">
                      <a16:colId xmlns:a16="http://schemas.microsoft.com/office/drawing/2014/main" val="20000"/>
                    </a:ext>
                  </a:extLst>
                </a:gridCol>
                <a:gridCol w="2254910">
                  <a:extLst>
                    <a:ext uri="{9D8B030D-6E8A-4147-A177-3AD203B41FA5}">
                      <a16:colId xmlns:a16="http://schemas.microsoft.com/office/drawing/2014/main" val="20001"/>
                    </a:ext>
                  </a:extLst>
                </a:gridCol>
                <a:gridCol w="2254910">
                  <a:extLst>
                    <a:ext uri="{9D8B030D-6E8A-4147-A177-3AD203B41FA5}">
                      <a16:colId xmlns:a16="http://schemas.microsoft.com/office/drawing/2014/main" val="20002"/>
                    </a:ext>
                  </a:extLst>
                </a:gridCol>
                <a:gridCol w="2254910">
                  <a:extLst>
                    <a:ext uri="{9D8B030D-6E8A-4147-A177-3AD203B41FA5}">
                      <a16:colId xmlns:a16="http://schemas.microsoft.com/office/drawing/2014/main" val="20003"/>
                    </a:ext>
                  </a:extLst>
                </a:gridCol>
                <a:gridCol w="2254912">
                  <a:extLst>
                    <a:ext uri="{9D8B030D-6E8A-4147-A177-3AD203B41FA5}">
                      <a16:colId xmlns:a16="http://schemas.microsoft.com/office/drawing/2014/main" val="20004"/>
                    </a:ext>
                  </a:extLst>
                </a:gridCol>
              </a:tblGrid>
              <a:tr h="1143000">
                <a:tc>
                  <a:txBody>
                    <a:bodyPr/>
                    <a:lstStyle/>
                    <a:p>
                      <a:pPr>
                        <a:defRPr sz="1400" b="1">
                          <a:solidFill>
                            <a:srgbClr val="FFFFFF"/>
                          </a:solidFill>
                        </a:defRPr>
                      </a:pPr>
                      <a:r>
                        <a:t>Paper / Authors</a:t>
                      </a:r>
                    </a:p>
                  </a:txBody>
                  <a:tcPr>
                    <a:solidFill>
                      <a:srgbClr val="2563EB"/>
                    </a:solidFill>
                  </a:tcPr>
                </a:tc>
                <a:tc>
                  <a:txBody>
                    <a:bodyPr/>
                    <a:lstStyle/>
                    <a:p>
                      <a:pPr>
                        <a:defRPr sz="1400" b="1">
                          <a:solidFill>
                            <a:srgbClr val="FFFFFF"/>
                          </a:solidFill>
                        </a:defRPr>
                      </a:pPr>
                      <a:r>
                        <a:t>Focus</a:t>
                      </a:r>
                    </a:p>
                  </a:txBody>
                  <a:tcPr>
                    <a:solidFill>
                      <a:srgbClr val="2563EB"/>
                    </a:solidFill>
                  </a:tcPr>
                </a:tc>
                <a:tc>
                  <a:txBody>
                    <a:bodyPr/>
                    <a:lstStyle/>
                    <a:p>
                      <a:pPr>
                        <a:defRPr sz="1400" b="1">
                          <a:solidFill>
                            <a:srgbClr val="FFFFFF"/>
                          </a:solidFill>
                        </a:defRPr>
                      </a:pPr>
                      <a:r>
                        <a:t>Key Takeaway</a:t>
                      </a:r>
                    </a:p>
                  </a:txBody>
                  <a:tcPr>
                    <a:solidFill>
                      <a:srgbClr val="2563EB"/>
                    </a:solidFill>
                  </a:tcPr>
                </a:tc>
                <a:tc>
                  <a:txBody>
                    <a:bodyPr/>
                    <a:lstStyle/>
                    <a:p>
                      <a:pPr>
                        <a:defRPr sz="1400" b="1">
                          <a:solidFill>
                            <a:srgbClr val="FFFFFF"/>
                          </a:solidFill>
                        </a:defRPr>
                      </a:pPr>
                      <a:r>
                        <a:t>Limitation / Future Scope</a:t>
                      </a:r>
                    </a:p>
                  </a:txBody>
                  <a:tcPr>
                    <a:solidFill>
                      <a:srgbClr val="2563EB"/>
                    </a:solidFill>
                  </a:tcPr>
                </a:tc>
                <a:tc>
                  <a:txBody>
                    <a:bodyPr/>
                    <a:lstStyle/>
                    <a:p>
                      <a:pPr>
                        <a:defRPr sz="1400" b="1">
                          <a:solidFill>
                            <a:srgbClr val="FFFFFF"/>
                          </a:solidFill>
                        </a:defRPr>
                      </a:pPr>
                      <a:r>
                        <a:t>Our Proposed Response</a:t>
                      </a:r>
                    </a:p>
                  </a:txBody>
                  <a:tcPr>
                    <a:solidFill>
                      <a:srgbClr val="2563EB"/>
                    </a:solidFill>
                  </a:tcPr>
                </a:tc>
                <a:extLst>
                  <a:ext uri="{0D108BD9-81ED-4DB2-BD59-A6C34878D82A}">
                    <a16:rowId xmlns:a16="http://schemas.microsoft.com/office/drawing/2014/main" val="10000"/>
                  </a:ext>
                </a:extLst>
              </a:tr>
              <a:tr h="1143000">
                <a:tc>
                  <a:txBody>
                    <a:bodyPr/>
                    <a:lstStyle/>
                    <a:p>
                      <a:pPr>
                        <a:defRPr sz="1200">
                          <a:solidFill>
                            <a:srgbClr val="111827"/>
                          </a:solidFill>
                        </a:defRPr>
                      </a:pPr>
                      <a:r>
                        <a:t>Bao et al. (2019)</a:t>
                      </a:r>
                    </a:p>
                  </a:txBody>
                  <a:tcPr/>
                </a:tc>
                <a:tc>
                  <a:txBody>
                    <a:bodyPr/>
                    <a:lstStyle/>
                    <a:p>
                      <a:pPr>
                        <a:defRPr sz="1200">
                          <a:solidFill>
                            <a:srgbClr val="111827"/>
                          </a:solidFill>
                        </a:defRPr>
                      </a:pPr>
                      <a:r>
                        <a:t>Computer vision &amp; ML in SHM</a:t>
                      </a:r>
                    </a:p>
                  </a:txBody>
                  <a:tcPr/>
                </a:tc>
                <a:tc>
                  <a:txBody>
                    <a:bodyPr/>
                    <a:lstStyle/>
                    <a:p>
                      <a:pPr>
                        <a:defRPr sz="1200">
                          <a:solidFill>
                            <a:srgbClr val="111827"/>
                          </a:solidFill>
                        </a:defRPr>
                      </a:pPr>
                      <a:r>
                        <a:t>Data-driven methods are highly viable.</a:t>
                      </a:r>
                    </a:p>
                  </a:txBody>
                  <a:tcPr/>
                </a:tc>
                <a:tc>
                  <a:txBody>
                    <a:bodyPr/>
                    <a:lstStyle/>
                    <a:p>
                      <a:pPr>
                        <a:defRPr sz="1200">
                          <a:solidFill>
                            <a:srgbClr val="111827"/>
                          </a:solidFill>
                        </a:defRPr>
                      </a:pPr>
                      <a:r>
                        <a:t>Susceptible to environmental noise.</a:t>
                      </a:r>
                    </a:p>
                  </a:txBody>
                  <a:tcPr/>
                </a:tc>
                <a:tc>
                  <a:txBody>
                    <a:bodyPr/>
                    <a:lstStyle/>
                    <a:p>
                      <a:pPr>
                        <a:defRPr sz="1200">
                          <a:solidFill>
                            <a:srgbClr val="111827"/>
                          </a:solidFill>
                        </a:defRPr>
                      </a:pPr>
                      <a:r>
                        <a:t>Normalize features against baseline.</a:t>
                      </a:r>
                    </a:p>
                  </a:txBody>
                  <a:tcPr/>
                </a:tc>
                <a:extLst>
                  <a:ext uri="{0D108BD9-81ED-4DB2-BD59-A6C34878D82A}">
                    <a16:rowId xmlns:a16="http://schemas.microsoft.com/office/drawing/2014/main" val="10001"/>
                  </a:ext>
                </a:extLst>
              </a:tr>
              <a:tr h="1143000">
                <a:tc>
                  <a:txBody>
                    <a:bodyPr/>
                    <a:lstStyle/>
                    <a:p>
                      <a:pPr>
                        <a:defRPr sz="1200">
                          <a:solidFill>
                            <a:srgbClr val="111827"/>
                          </a:solidFill>
                        </a:defRPr>
                      </a:pPr>
                      <a:r>
                        <a:t>Azimi et al. (2020)</a:t>
                      </a:r>
                    </a:p>
                  </a:txBody>
                  <a:tcPr/>
                </a:tc>
                <a:tc>
                  <a:txBody>
                    <a:bodyPr/>
                    <a:lstStyle/>
                    <a:p>
                      <a:pPr>
                        <a:defRPr sz="1200">
                          <a:solidFill>
                            <a:srgbClr val="111827"/>
                          </a:solidFill>
                        </a:defRPr>
                      </a:pPr>
                      <a:r>
                        <a:t>Data-driven SHM via DL</a:t>
                      </a:r>
                    </a:p>
                  </a:txBody>
                  <a:tcPr/>
                </a:tc>
                <a:tc>
                  <a:txBody>
                    <a:bodyPr/>
                    <a:lstStyle/>
                    <a:p>
                      <a:pPr>
                        <a:defRPr sz="1200">
                          <a:solidFill>
                            <a:srgbClr val="111827"/>
                          </a:solidFill>
                        </a:defRPr>
                      </a:pPr>
                      <a:r>
                        <a:t>Neural networks are highly effective.</a:t>
                      </a:r>
                    </a:p>
                  </a:txBody>
                  <a:tcPr/>
                </a:tc>
                <a:tc>
                  <a:txBody>
                    <a:bodyPr/>
                    <a:lstStyle/>
                    <a:p>
                      <a:pPr>
                        <a:defRPr sz="1200">
                          <a:solidFill>
                            <a:srgbClr val="111827"/>
                          </a:solidFill>
                        </a:defRPr>
                      </a:pPr>
                      <a:r>
                        <a:t>Cross-structure generalization is poor.</a:t>
                      </a:r>
                    </a:p>
                  </a:txBody>
                  <a:tcPr/>
                </a:tc>
                <a:tc>
                  <a:txBody>
                    <a:bodyPr/>
                    <a:lstStyle/>
                    <a:p>
                      <a:pPr>
                        <a:defRPr sz="1200">
                          <a:solidFill>
                            <a:srgbClr val="111827"/>
                          </a:solidFill>
                        </a:defRPr>
                      </a:pPr>
                      <a:r>
                        <a:t>Investigate relative features.</a:t>
                      </a:r>
                    </a:p>
                  </a:txBody>
                  <a:tcPr/>
                </a:tc>
                <a:extLst>
                  <a:ext uri="{0D108BD9-81ED-4DB2-BD59-A6C34878D82A}">
                    <a16:rowId xmlns:a16="http://schemas.microsoft.com/office/drawing/2014/main" val="10002"/>
                  </a:ext>
                </a:extLst>
              </a:tr>
              <a:tr h="1143000">
                <a:tc>
                  <a:txBody>
                    <a:bodyPr/>
                    <a:lstStyle/>
                    <a:p>
                      <a:pPr>
                        <a:defRPr sz="1200">
                          <a:solidFill>
                            <a:srgbClr val="111827"/>
                          </a:solidFill>
                        </a:defRPr>
                      </a:pPr>
                      <a:r>
                        <a:t>Entezami et al. (2022)</a:t>
                      </a:r>
                    </a:p>
                  </a:txBody>
                  <a:tcPr/>
                </a:tc>
                <a:tc>
                  <a:txBody>
                    <a:bodyPr/>
                    <a:lstStyle/>
                    <a:p>
                      <a:pPr>
                        <a:defRPr sz="1200">
                          <a:solidFill>
                            <a:srgbClr val="111827"/>
                          </a:solidFill>
                        </a:defRPr>
                      </a:pPr>
                      <a:r>
                        <a:t>Unsupervised ML &amp; env variability</a:t>
                      </a:r>
                    </a:p>
                  </a:txBody>
                  <a:tcPr/>
                </a:tc>
                <a:tc>
                  <a:txBody>
                    <a:bodyPr/>
                    <a:lstStyle/>
                    <a:p>
                      <a:pPr>
                        <a:defRPr sz="1200">
                          <a:solidFill>
                            <a:srgbClr val="111827"/>
                          </a:solidFill>
                        </a:defRPr>
                      </a:pPr>
                      <a:r>
                        <a:t>Unsupervised methods handle varying environments.</a:t>
                      </a:r>
                    </a:p>
                  </a:txBody>
                  <a:tcPr/>
                </a:tc>
                <a:tc>
                  <a:txBody>
                    <a:bodyPr/>
                    <a:lstStyle/>
                    <a:p>
                      <a:pPr>
                        <a:defRPr sz="1200">
                          <a:solidFill>
                            <a:srgbClr val="111827"/>
                          </a:solidFill>
                        </a:defRPr>
                      </a:pPr>
                      <a:r>
                        <a:t>Hard to distinguish damage from rare normal events.</a:t>
                      </a:r>
                    </a:p>
                  </a:txBody>
                  <a:tcPr/>
                </a:tc>
                <a:tc>
                  <a:txBody>
                    <a:bodyPr/>
                    <a:lstStyle/>
                    <a:p>
                      <a:pPr>
                        <a:defRPr sz="1200">
                          <a:solidFill>
                            <a:srgbClr val="111827"/>
                          </a:solidFill>
                        </a:defRPr>
                      </a:pPr>
                      <a:r>
                        <a:t>Compare multiple ML algorithms.</a:t>
                      </a: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6400800"/>
            <a:ext cx="8229600" cy="457200"/>
          </a:xfrm>
          <a:prstGeom prst="rect">
            <a:avLst/>
          </a:prstGeom>
          <a:noFill/>
        </p:spPr>
        <p:txBody>
          <a:bodyPr wrap="none">
            <a:spAutoFit/>
          </a:bodyPr>
          <a:lstStyle/>
          <a:p>
            <a:endParaRPr/>
          </a:p>
          <a:p>
            <a:pPr>
              <a:defRPr sz="1000">
                <a:solidFill>
                  <a:srgbClr val="64748B"/>
                </a:solidFill>
              </a:defRPr>
            </a:pPr>
            <a:r>
              <a:t>BRIDGEGUARD ML | IDP Review II | Project ID: 202600749</a:t>
            </a:r>
          </a:p>
        </p:txBody>
      </p:sp>
      <p:sp>
        <p:nvSpPr>
          <p:cNvPr id="3" name="TextBox 2"/>
          <p:cNvSpPr txBox="1"/>
          <p:nvPr/>
        </p:nvSpPr>
        <p:spPr>
          <a:xfrm>
            <a:off x="457200" y="365760"/>
            <a:ext cx="11274552" cy="914400"/>
          </a:xfrm>
          <a:prstGeom prst="rect">
            <a:avLst/>
          </a:prstGeom>
          <a:noFill/>
        </p:spPr>
        <p:txBody>
          <a:bodyPr wrap="none">
            <a:spAutoFit/>
          </a:bodyPr>
          <a:lstStyle/>
          <a:p>
            <a:endParaRPr/>
          </a:p>
          <a:p>
            <a:pPr>
              <a:defRPr sz="3600" b="1">
                <a:solidFill>
                  <a:srgbClr val="111827"/>
                </a:solidFill>
              </a:defRPr>
            </a:pPr>
            <a:r>
              <a:t>LITERATURE SURVEY (3/5)</a:t>
            </a:r>
          </a:p>
        </p:txBody>
      </p:sp>
      <p:graphicFrame>
        <p:nvGraphicFramePr>
          <p:cNvPr id="4" name="Table 3"/>
          <p:cNvGraphicFramePr>
            <a:graphicFrameLocks noGrp="1"/>
          </p:cNvGraphicFramePr>
          <p:nvPr/>
        </p:nvGraphicFramePr>
        <p:xfrm>
          <a:off x="457200" y="1371600"/>
          <a:ext cx="11274552" cy="4572000"/>
        </p:xfrm>
        <a:graphic>
          <a:graphicData uri="http://schemas.openxmlformats.org/drawingml/2006/table">
            <a:tbl>
              <a:tblPr firstRow="1" bandRow="1">
                <a:tableStyleId>{5C22544A-7EE6-4342-B048-85BDC9FD1C3A}</a:tableStyleId>
              </a:tblPr>
              <a:tblGrid>
                <a:gridCol w="2254910">
                  <a:extLst>
                    <a:ext uri="{9D8B030D-6E8A-4147-A177-3AD203B41FA5}">
                      <a16:colId xmlns:a16="http://schemas.microsoft.com/office/drawing/2014/main" val="20000"/>
                    </a:ext>
                  </a:extLst>
                </a:gridCol>
                <a:gridCol w="2254910">
                  <a:extLst>
                    <a:ext uri="{9D8B030D-6E8A-4147-A177-3AD203B41FA5}">
                      <a16:colId xmlns:a16="http://schemas.microsoft.com/office/drawing/2014/main" val="20001"/>
                    </a:ext>
                  </a:extLst>
                </a:gridCol>
                <a:gridCol w="2254910">
                  <a:extLst>
                    <a:ext uri="{9D8B030D-6E8A-4147-A177-3AD203B41FA5}">
                      <a16:colId xmlns:a16="http://schemas.microsoft.com/office/drawing/2014/main" val="20002"/>
                    </a:ext>
                  </a:extLst>
                </a:gridCol>
                <a:gridCol w="2254910">
                  <a:extLst>
                    <a:ext uri="{9D8B030D-6E8A-4147-A177-3AD203B41FA5}">
                      <a16:colId xmlns:a16="http://schemas.microsoft.com/office/drawing/2014/main" val="20003"/>
                    </a:ext>
                  </a:extLst>
                </a:gridCol>
                <a:gridCol w="2254912">
                  <a:extLst>
                    <a:ext uri="{9D8B030D-6E8A-4147-A177-3AD203B41FA5}">
                      <a16:colId xmlns:a16="http://schemas.microsoft.com/office/drawing/2014/main" val="20004"/>
                    </a:ext>
                  </a:extLst>
                </a:gridCol>
              </a:tblGrid>
              <a:tr h="1143000">
                <a:tc>
                  <a:txBody>
                    <a:bodyPr/>
                    <a:lstStyle/>
                    <a:p>
                      <a:pPr>
                        <a:defRPr sz="1400" b="1">
                          <a:solidFill>
                            <a:srgbClr val="FFFFFF"/>
                          </a:solidFill>
                        </a:defRPr>
                      </a:pPr>
                      <a:r>
                        <a:t>Paper / Authors</a:t>
                      </a:r>
                    </a:p>
                  </a:txBody>
                  <a:tcPr>
                    <a:solidFill>
                      <a:srgbClr val="2563EB"/>
                    </a:solidFill>
                  </a:tcPr>
                </a:tc>
                <a:tc>
                  <a:txBody>
                    <a:bodyPr/>
                    <a:lstStyle/>
                    <a:p>
                      <a:pPr>
                        <a:defRPr sz="1400" b="1">
                          <a:solidFill>
                            <a:srgbClr val="FFFFFF"/>
                          </a:solidFill>
                        </a:defRPr>
                      </a:pPr>
                      <a:r>
                        <a:t>Focus</a:t>
                      </a:r>
                    </a:p>
                  </a:txBody>
                  <a:tcPr>
                    <a:solidFill>
                      <a:srgbClr val="2563EB"/>
                    </a:solidFill>
                  </a:tcPr>
                </a:tc>
                <a:tc>
                  <a:txBody>
                    <a:bodyPr/>
                    <a:lstStyle/>
                    <a:p>
                      <a:pPr>
                        <a:defRPr sz="1400" b="1">
                          <a:solidFill>
                            <a:srgbClr val="FFFFFF"/>
                          </a:solidFill>
                        </a:defRPr>
                      </a:pPr>
                      <a:r>
                        <a:t>Key Takeaway</a:t>
                      </a:r>
                    </a:p>
                  </a:txBody>
                  <a:tcPr>
                    <a:solidFill>
                      <a:srgbClr val="2563EB"/>
                    </a:solidFill>
                  </a:tcPr>
                </a:tc>
                <a:tc>
                  <a:txBody>
                    <a:bodyPr/>
                    <a:lstStyle/>
                    <a:p>
                      <a:pPr>
                        <a:defRPr sz="1400" b="1">
                          <a:solidFill>
                            <a:srgbClr val="FFFFFF"/>
                          </a:solidFill>
                        </a:defRPr>
                      </a:pPr>
                      <a:r>
                        <a:t>Limitation / Future Scope</a:t>
                      </a:r>
                    </a:p>
                  </a:txBody>
                  <a:tcPr>
                    <a:solidFill>
                      <a:srgbClr val="2563EB"/>
                    </a:solidFill>
                  </a:tcPr>
                </a:tc>
                <a:tc>
                  <a:txBody>
                    <a:bodyPr/>
                    <a:lstStyle/>
                    <a:p>
                      <a:pPr>
                        <a:defRPr sz="1400" b="1">
                          <a:solidFill>
                            <a:srgbClr val="FFFFFF"/>
                          </a:solidFill>
                        </a:defRPr>
                      </a:pPr>
                      <a:r>
                        <a:t>Our Proposed Response</a:t>
                      </a:r>
                    </a:p>
                  </a:txBody>
                  <a:tcPr>
                    <a:solidFill>
                      <a:srgbClr val="2563EB"/>
                    </a:solidFill>
                  </a:tcPr>
                </a:tc>
                <a:extLst>
                  <a:ext uri="{0D108BD9-81ED-4DB2-BD59-A6C34878D82A}">
                    <a16:rowId xmlns:a16="http://schemas.microsoft.com/office/drawing/2014/main" val="10000"/>
                  </a:ext>
                </a:extLst>
              </a:tr>
              <a:tr h="1143000">
                <a:tc>
                  <a:txBody>
                    <a:bodyPr/>
                    <a:lstStyle/>
                    <a:p>
                      <a:pPr>
                        <a:defRPr sz="1200">
                          <a:solidFill>
                            <a:srgbClr val="111827"/>
                          </a:solidFill>
                        </a:defRPr>
                      </a:pPr>
                      <a:r>
                        <a:t>Neves et al. (2017)</a:t>
                      </a:r>
                    </a:p>
                  </a:txBody>
                  <a:tcPr/>
                </a:tc>
                <a:tc>
                  <a:txBody>
                    <a:bodyPr/>
                    <a:lstStyle/>
                    <a:p>
                      <a:pPr>
                        <a:defRPr sz="1200">
                          <a:solidFill>
                            <a:srgbClr val="111827"/>
                          </a:solidFill>
                        </a:defRPr>
                      </a:pPr>
                      <a:r>
                        <a:t>Model-free anomaly detection</a:t>
                      </a:r>
                    </a:p>
                  </a:txBody>
                  <a:tcPr/>
                </a:tc>
                <a:tc>
                  <a:txBody>
                    <a:bodyPr/>
                    <a:lstStyle/>
                    <a:p>
                      <a:pPr>
                        <a:defRPr sz="1200">
                          <a:solidFill>
                            <a:srgbClr val="111827"/>
                          </a:solidFill>
                        </a:defRPr>
                      </a:pPr>
                      <a:r>
                        <a:t>Avoids complex finite element models.</a:t>
                      </a:r>
                    </a:p>
                  </a:txBody>
                  <a:tcPr/>
                </a:tc>
                <a:tc>
                  <a:txBody>
                    <a:bodyPr/>
                    <a:lstStyle/>
                    <a:p>
                      <a:pPr>
                        <a:defRPr sz="1200">
                          <a:solidFill>
                            <a:srgbClr val="111827"/>
                          </a:solidFill>
                        </a:defRPr>
                      </a:pPr>
                      <a:r>
                        <a:t>Hard to localize damage specifically.</a:t>
                      </a:r>
                    </a:p>
                  </a:txBody>
                  <a:tcPr/>
                </a:tc>
                <a:tc>
                  <a:txBody>
                    <a:bodyPr/>
                    <a:lstStyle/>
                    <a:p>
                      <a:pPr>
                        <a:defRPr sz="1200">
                          <a:solidFill>
                            <a:srgbClr val="111827"/>
                          </a:solidFill>
                        </a:defRPr>
                      </a:pPr>
                      <a:r>
                        <a:t>Use explainable AI to highlight features.</a:t>
                      </a:r>
                    </a:p>
                  </a:txBody>
                  <a:tcPr/>
                </a:tc>
                <a:extLst>
                  <a:ext uri="{0D108BD9-81ED-4DB2-BD59-A6C34878D82A}">
                    <a16:rowId xmlns:a16="http://schemas.microsoft.com/office/drawing/2014/main" val="10001"/>
                  </a:ext>
                </a:extLst>
              </a:tr>
              <a:tr h="1143000">
                <a:tc>
                  <a:txBody>
                    <a:bodyPr/>
                    <a:lstStyle/>
                    <a:p>
                      <a:pPr>
                        <a:defRPr sz="1200">
                          <a:solidFill>
                            <a:srgbClr val="111827"/>
                          </a:solidFill>
                        </a:defRPr>
                      </a:pPr>
                      <a:r>
                        <a:t>Malekzadeh et al. (2015)</a:t>
                      </a:r>
                    </a:p>
                  </a:txBody>
                  <a:tcPr/>
                </a:tc>
                <a:tc>
                  <a:txBody>
                    <a:bodyPr/>
                    <a:lstStyle/>
                    <a:p>
                      <a:pPr>
                        <a:defRPr sz="1200">
                          <a:solidFill>
                            <a:srgbClr val="111827"/>
                          </a:solidFill>
                        </a:defRPr>
                      </a:pPr>
                      <a:r>
                        <a:t>ML classification for SHM</a:t>
                      </a:r>
                    </a:p>
                  </a:txBody>
                  <a:tcPr/>
                </a:tc>
                <a:tc>
                  <a:txBody>
                    <a:bodyPr/>
                    <a:lstStyle/>
                    <a:p>
                      <a:pPr>
                        <a:defRPr sz="1200">
                          <a:solidFill>
                            <a:srgbClr val="111827"/>
                          </a:solidFill>
                        </a:defRPr>
                      </a:pPr>
                      <a:r>
                        <a:t>SVM and RF perform well on extracted features.</a:t>
                      </a:r>
                    </a:p>
                  </a:txBody>
                  <a:tcPr/>
                </a:tc>
                <a:tc>
                  <a:txBody>
                    <a:bodyPr/>
                    <a:lstStyle/>
                    <a:p>
                      <a:pPr>
                        <a:defRPr sz="1200">
                          <a:solidFill>
                            <a:srgbClr val="111827"/>
                          </a:solidFill>
                        </a:defRPr>
                      </a:pPr>
                      <a:r>
                        <a:t>Thresholds are strictly bridge-specific.</a:t>
                      </a:r>
                    </a:p>
                  </a:txBody>
                  <a:tcPr/>
                </a:tc>
                <a:tc>
                  <a:txBody>
                    <a:bodyPr/>
                    <a:lstStyle/>
                    <a:p>
                      <a:pPr>
                        <a:defRPr sz="1200">
                          <a:solidFill>
                            <a:srgbClr val="111827"/>
                          </a:solidFill>
                        </a:defRPr>
                      </a:pPr>
                      <a:r>
                        <a:t>Extract health-relative normalized features.</a:t>
                      </a:r>
                    </a:p>
                  </a:txBody>
                  <a:tcPr/>
                </a:tc>
                <a:extLst>
                  <a:ext uri="{0D108BD9-81ED-4DB2-BD59-A6C34878D82A}">
                    <a16:rowId xmlns:a16="http://schemas.microsoft.com/office/drawing/2014/main" val="10002"/>
                  </a:ext>
                </a:extLst>
              </a:tr>
              <a:tr h="1143000">
                <a:tc>
                  <a:txBody>
                    <a:bodyPr/>
                    <a:lstStyle/>
                    <a:p>
                      <a:pPr>
                        <a:defRPr sz="1200">
                          <a:solidFill>
                            <a:srgbClr val="111827"/>
                          </a:solidFill>
                        </a:defRPr>
                      </a:pPr>
                      <a:r>
                        <a:t>Sun et al. (2020)</a:t>
                      </a:r>
                    </a:p>
                  </a:txBody>
                  <a:tcPr/>
                </a:tc>
                <a:tc>
                  <a:txBody>
                    <a:bodyPr/>
                    <a:lstStyle/>
                    <a:p>
                      <a:pPr>
                        <a:defRPr sz="1200">
                          <a:solidFill>
                            <a:srgbClr val="111827"/>
                          </a:solidFill>
                        </a:defRPr>
                      </a:pPr>
                      <a:r>
                        <a:t>Deep learning for SHM review</a:t>
                      </a:r>
                    </a:p>
                  </a:txBody>
                  <a:tcPr/>
                </a:tc>
                <a:tc>
                  <a:txBody>
                    <a:bodyPr/>
                    <a:lstStyle/>
                    <a:p>
                      <a:pPr>
                        <a:defRPr sz="1200">
                          <a:solidFill>
                            <a:srgbClr val="111827"/>
                          </a:solidFill>
                        </a:defRPr>
                      </a:pPr>
                      <a:r>
                        <a:t>Autoencoders excel at anomaly detection.</a:t>
                      </a:r>
                    </a:p>
                  </a:txBody>
                  <a:tcPr/>
                </a:tc>
                <a:tc>
                  <a:txBody>
                    <a:bodyPr/>
                    <a:lstStyle/>
                    <a:p>
                      <a:pPr>
                        <a:defRPr sz="1200">
                          <a:solidFill>
                            <a:srgbClr val="111827"/>
                          </a:solidFill>
                        </a:defRPr>
                      </a:pPr>
                      <a:r>
                        <a:t>High computational cost, 'black-box' nature.</a:t>
                      </a:r>
                    </a:p>
                  </a:txBody>
                  <a:tcPr/>
                </a:tc>
                <a:tc>
                  <a:txBody>
                    <a:bodyPr/>
                    <a:lstStyle/>
                    <a:p>
                      <a:pPr>
                        <a:defRPr sz="1200">
                          <a:solidFill>
                            <a:srgbClr val="111827"/>
                          </a:solidFill>
                        </a:defRPr>
                      </a:pPr>
                      <a:r>
                        <a:t>Use lightweight interpretable ML models.</a:t>
                      </a: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6400800"/>
            <a:ext cx="8229600" cy="457200"/>
          </a:xfrm>
          <a:prstGeom prst="rect">
            <a:avLst/>
          </a:prstGeom>
          <a:noFill/>
        </p:spPr>
        <p:txBody>
          <a:bodyPr wrap="none">
            <a:spAutoFit/>
          </a:bodyPr>
          <a:lstStyle/>
          <a:p>
            <a:endParaRPr/>
          </a:p>
          <a:p>
            <a:pPr>
              <a:defRPr sz="1000">
                <a:solidFill>
                  <a:srgbClr val="64748B"/>
                </a:solidFill>
              </a:defRPr>
            </a:pPr>
            <a:r>
              <a:t>BRIDGEGUARD ML | IDP Review II | Project ID: 202600749</a:t>
            </a:r>
          </a:p>
        </p:txBody>
      </p:sp>
      <p:sp>
        <p:nvSpPr>
          <p:cNvPr id="3" name="TextBox 2"/>
          <p:cNvSpPr txBox="1"/>
          <p:nvPr/>
        </p:nvSpPr>
        <p:spPr>
          <a:xfrm>
            <a:off x="457200" y="365760"/>
            <a:ext cx="11274552" cy="914400"/>
          </a:xfrm>
          <a:prstGeom prst="rect">
            <a:avLst/>
          </a:prstGeom>
          <a:noFill/>
        </p:spPr>
        <p:txBody>
          <a:bodyPr wrap="none">
            <a:spAutoFit/>
          </a:bodyPr>
          <a:lstStyle/>
          <a:p>
            <a:endParaRPr/>
          </a:p>
          <a:p>
            <a:pPr>
              <a:defRPr sz="3600" b="1">
                <a:solidFill>
                  <a:srgbClr val="111827"/>
                </a:solidFill>
              </a:defRPr>
            </a:pPr>
            <a:r>
              <a:t>LITERATURE SURVEY (4/5)</a:t>
            </a:r>
          </a:p>
        </p:txBody>
      </p:sp>
      <p:graphicFrame>
        <p:nvGraphicFramePr>
          <p:cNvPr id="4" name="Table 3"/>
          <p:cNvGraphicFramePr>
            <a:graphicFrameLocks noGrp="1"/>
          </p:cNvGraphicFramePr>
          <p:nvPr/>
        </p:nvGraphicFramePr>
        <p:xfrm>
          <a:off x="457200" y="1371600"/>
          <a:ext cx="11274552" cy="4572000"/>
        </p:xfrm>
        <a:graphic>
          <a:graphicData uri="http://schemas.openxmlformats.org/drawingml/2006/table">
            <a:tbl>
              <a:tblPr firstRow="1" bandRow="1">
                <a:tableStyleId>{5C22544A-7EE6-4342-B048-85BDC9FD1C3A}</a:tableStyleId>
              </a:tblPr>
              <a:tblGrid>
                <a:gridCol w="2254910">
                  <a:extLst>
                    <a:ext uri="{9D8B030D-6E8A-4147-A177-3AD203B41FA5}">
                      <a16:colId xmlns:a16="http://schemas.microsoft.com/office/drawing/2014/main" val="20000"/>
                    </a:ext>
                  </a:extLst>
                </a:gridCol>
                <a:gridCol w="2254910">
                  <a:extLst>
                    <a:ext uri="{9D8B030D-6E8A-4147-A177-3AD203B41FA5}">
                      <a16:colId xmlns:a16="http://schemas.microsoft.com/office/drawing/2014/main" val="20001"/>
                    </a:ext>
                  </a:extLst>
                </a:gridCol>
                <a:gridCol w="2254910">
                  <a:extLst>
                    <a:ext uri="{9D8B030D-6E8A-4147-A177-3AD203B41FA5}">
                      <a16:colId xmlns:a16="http://schemas.microsoft.com/office/drawing/2014/main" val="20002"/>
                    </a:ext>
                  </a:extLst>
                </a:gridCol>
                <a:gridCol w="2254910">
                  <a:extLst>
                    <a:ext uri="{9D8B030D-6E8A-4147-A177-3AD203B41FA5}">
                      <a16:colId xmlns:a16="http://schemas.microsoft.com/office/drawing/2014/main" val="20003"/>
                    </a:ext>
                  </a:extLst>
                </a:gridCol>
                <a:gridCol w="2254912">
                  <a:extLst>
                    <a:ext uri="{9D8B030D-6E8A-4147-A177-3AD203B41FA5}">
                      <a16:colId xmlns:a16="http://schemas.microsoft.com/office/drawing/2014/main" val="20004"/>
                    </a:ext>
                  </a:extLst>
                </a:gridCol>
              </a:tblGrid>
              <a:tr h="1143000">
                <a:tc>
                  <a:txBody>
                    <a:bodyPr/>
                    <a:lstStyle/>
                    <a:p>
                      <a:pPr>
                        <a:defRPr sz="1400" b="1">
                          <a:solidFill>
                            <a:srgbClr val="FFFFFF"/>
                          </a:solidFill>
                        </a:defRPr>
                      </a:pPr>
                      <a:r>
                        <a:t>Paper / Authors</a:t>
                      </a:r>
                    </a:p>
                  </a:txBody>
                  <a:tcPr>
                    <a:solidFill>
                      <a:srgbClr val="2563EB"/>
                    </a:solidFill>
                  </a:tcPr>
                </a:tc>
                <a:tc>
                  <a:txBody>
                    <a:bodyPr/>
                    <a:lstStyle/>
                    <a:p>
                      <a:pPr>
                        <a:defRPr sz="1400" b="1">
                          <a:solidFill>
                            <a:srgbClr val="FFFFFF"/>
                          </a:solidFill>
                        </a:defRPr>
                      </a:pPr>
                      <a:r>
                        <a:t>Focus</a:t>
                      </a:r>
                    </a:p>
                  </a:txBody>
                  <a:tcPr>
                    <a:solidFill>
                      <a:srgbClr val="2563EB"/>
                    </a:solidFill>
                  </a:tcPr>
                </a:tc>
                <a:tc>
                  <a:txBody>
                    <a:bodyPr/>
                    <a:lstStyle/>
                    <a:p>
                      <a:pPr>
                        <a:defRPr sz="1400" b="1">
                          <a:solidFill>
                            <a:srgbClr val="FFFFFF"/>
                          </a:solidFill>
                        </a:defRPr>
                      </a:pPr>
                      <a:r>
                        <a:t>Key Takeaway</a:t>
                      </a:r>
                    </a:p>
                  </a:txBody>
                  <a:tcPr>
                    <a:solidFill>
                      <a:srgbClr val="2563EB"/>
                    </a:solidFill>
                  </a:tcPr>
                </a:tc>
                <a:tc>
                  <a:txBody>
                    <a:bodyPr/>
                    <a:lstStyle/>
                    <a:p>
                      <a:pPr>
                        <a:defRPr sz="1400" b="1">
                          <a:solidFill>
                            <a:srgbClr val="FFFFFF"/>
                          </a:solidFill>
                        </a:defRPr>
                      </a:pPr>
                      <a:r>
                        <a:t>Limitation / Future Scope</a:t>
                      </a:r>
                    </a:p>
                  </a:txBody>
                  <a:tcPr>
                    <a:solidFill>
                      <a:srgbClr val="2563EB"/>
                    </a:solidFill>
                  </a:tcPr>
                </a:tc>
                <a:tc>
                  <a:txBody>
                    <a:bodyPr/>
                    <a:lstStyle/>
                    <a:p>
                      <a:pPr>
                        <a:defRPr sz="1400" b="1">
                          <a:solidFill>
                            <a:srgbClr val="FFFFFF"/>
                          </a:solidFill>
                        </a:defRPr>
                      </a:pPr>
                      <a:r>
                        <a:t>Our Proposed Response</a:t>
                      </a:r>
                    </a:p>
                  </a:txBody>
                  <a:tcPr>
                    <a:solidFill>
                      <a:srgbClr val="2563EB"/>
                    </a:solidFill>
                  </a:tcPr>
                </a:tc>
                <a:extLst>
                  <a:ext uri="{0D108BD9-81ED-4DB2-BD59-A6C34878D82A}">
                    <a16:rowId xmlns:a16="http://schemas.microsoft.com/office/drawing/2014/main" val="10000"/>
                  </a:ext>
                </a:extLst>
              </a:tr>
              <a:tr h="1143000">
                <a:tc>
                  <a:txBody>
                    <a:bodyPr/>
                    <a:lstStyle/>
                    <a:p>
                      <a:pPr>
                        <a:defRPr sz="1200">
                          <a:solidFill>
                            <a:srgbClr val="111827"/>
                          </a:solidFill>
                        </a:defRPr>
                      </a:pPr>
                      <a:r>
                        <a:t>Figueiredo et al. (2011)</a:t>
                      </a:r>
                    </a:p>
                  </a:txBody>
                  <a:tcPr/>
                </a:tc>
                <a:tc>
                  <a:txBody>
                    <a:bodyPr/>
                    <a:lstStyle/>
                    <a:p>
                      <a:pPr>
                        <a:defRPr sz="1200">
                          <a:solidFill>
                            <a:srgbClr val="111827"/>
                          </a:solidFill>
                        </a:defRPr>
                      </a:pPr>
                      <a:r>
                        <a:t>Damage detection under variability</a:t>
                      </a:r>
                    </a:p>
                  </a:txBody>
                  <a:tcPr/>
                </a:tc>
                <a:tc>
                  <a:txBody>
                    <a:bodyPr/>
                    <a:lstStyle/>
                    <a:p>
                      <a:pPr>
                        <a:defRPr sz="1200">
                          <a:solidFill>
                            <a:srgbClr val="111827"/>
                          </a:solidFill>
                        </a:defRPr>
                      </a:pPr>
                      <a:r>
                        <a:t>PCA mitigates operational variability.</a:t>
                      </a:r>
                    </a:p>
                  </a:txBody>
                  <a:tcPr/>
                </a:tc>
                <a:tc>
                  <a:txBody>
                    <a:bodyPr/>
                    <a:lstStyle/>
                    <a:p>
                      <a:pPr>
                        <a:defRPr sz="1200">
                          <a:solidFill>
                            <a:srgbClr val="111827"/>
                          </a:solidFill>
                        </a:defRPr>
                      </a:pPr>
                      <a:r>
                        <a:t>Linear assumptions limit some models.</a:t>
                      </a:r>
                    </a:p>
                  </a:txBody>
                  <a:tcPr/>
                </a:tc>
                <a:tc>
                  <a:txBody>
                    <a:bodyPr/>
                    <a:lstStyle/>
                    <a:p>
                      <a:pPr>
                        <a:defRPr sz="1200">
                          <a:solidFill>
                            <a:srgbClr val="111827"/>
                          </a:solidFill>
                        </a:defRPr>
                      </a:pPr>
                      <a:r>
                        <a:t>Compare non-linear models (e.g., Random Forest).</a:t>
                      </a:r>
                    </a:p>
                  </a:txBody>
                  <a:tcPr/>
                </a:tc>
                <a:extLst>
                  <a:ext uri="{0D108BD9-81ED-4DB2-BD59-A6C34878D82A}">
                    <a16:rowId xmlns:a16="http://schemas.microsoft.com/office/drawing/2014/main" val="10001"/>
                  </a:ext>
                </a:extLst>
              </a:tr>
              <a:tr h="1143000">
                <a:tc>
                  <a:txBody>
                    <a:bodyPr/>
                    <a:lstStyle/>
                    <a:p>
                      <a:pPr>
                        <a:defRPr sz="1200">
                          <a:solidFill>
                            <a:srgbClr val="111827"/>
                          </a:solidFill>
                        </a:defRPr>
                      </a:pPr>
                      <a:r>
                        <a:t>Oh et al. (2020)</a:t>
                      </a:r>
                    </a:p>
                  </a:txBody>
                  <a:tcPr/>
                </a:tc>
                <a:tc>
                  <a:txBody>
                    <a:bodyPr/>
                    <a:lstStyle/>
                    <a:p>
                      <a:pPr>
                        <a:defRPr sz="1200">
                          <a:solidFill>
                            <a:srgbClr val="111827"/>
                          </a:solidFill>
                        </a:defRPr>
                      </a:pPr>
                      <a:r>
                        <a:t>Explainable ML approach for SHM</a:t>
                      </a:r>
                    </a:p>
                  </a:txBody>
                  <a:tcPr/>
                </a:tc>
                <a:tc>
                  <a:txBody>
                    <a:bodyPr/>
                    <a:lstStyle/>
                    <a:p>
                      <a:pPr>
                        <a:defRPr sz="1200">
                          <a:solidFill>
                            <a:srgbClr val="111827"/>
                          </a:solidFill>
                        </a:defRPr>
                      </a:pPr>
                      <a:r>
                        <a:t>SHAP values improve trust in models.</a:t>
                      </a:r>
                    </a:p>
                  </a:txBody>
                  <a:tcPr/>
                </a:tc>
                <a:tc>
                  <a:txBody>
                    <a:bodyPr/>
                    <a:lstStyle/>
                    <a:p>
                      <a:pPr>
                        <a:defRPr sz="1200">
                          <a:solidFill>
                            <a:srgbClr val="111827"/>
                          </a:solidFill>
                        </a:defRPr>
                      </a:pPr>
                      <a:r>
                        <a:t>SHAP computation can be expensive.</a:t>
                      </a:r>
                    </a:p>
                  </a:txBody>
                  <a:tcPr/>
                </a:tc>
                <a:tc>
                  <a:txBody>
                    <a:bodyPr/>
                    <a:lstStyle/>
                    <a:p>
                      <a:pPr>
                        <a:defRPr sz="1200">
                          <a:solidFill>
                            <a:srgbClr val="111827"/>
                          </a:solidFill>
                        </a:defRPr>
                      </a:pPr>
                      <a:r>
                        <a:t>Optimize feature set prior to SHAP.</a:t>
                      </a:r>
                    </a:p>
                  </a:txBody>
                  <a:tcPr/>
                </a:tc>
                <a:extLst>
                  <a:ext uri="{0D108BD9-81ED-4DB2-BD59-A6C34878D82A}">
                    <a16:rowId xmlns:a16="http://schemas.microsoft.com/office/drawing/2014/main" val="10002"/>
                  </a:ext>
                </a:extLst>
              </a:tr>
              <a:tr h="1143000">
                <a:tc>
                  <a:txBody>
                    <a:bodyPr/>
                    <a:lstStyle/>
                    <a:p>
                      <a:pPr>
                        <a:defRPr sz="1200">
                          <a:solidFill>
                            <a:srgbClr val="111827"/>
                          </a:solidFill>
                        </a:defRPr>
                      </a:pPr>
                      <a:r>
                        <a:t>Toh &amp; Park (2020)</a:t>
                      </a:r>
                    </a:p>
                  </a:txBody>
                  <a:tcPr/>
                </a:tc>
                <a:tc>
                  <a:txBody>
                    <a:bodyPr/>
                    <a:lstStyle/>
                    <a:p>
                      <a:pPr>
                        <a:defRPr sz="1200">
                          <a:solidFill>
                            <a:srgbClr val="111827"/>
                          </a:solidFill>
                        </a:defRPr>
                      </a:pPr>
                      <a:r>
                        <a:t>Review of ML in bridge SHM</a:t>
                      </a:r>
                    </a:p>
                  </a:txBody>
                  <a:tcPr/>
                </a:tc>
                <a:tc>
                  <a:txBody>
                    <a:bodyPr/>
                    <a:lstStyle/>
                    <a:p>
                      <a:pPr>
                        <a:defRPr sz="1200">
                          <a:solidFill>
                            <a:srgbClr val="111827"/>
                          </a:solidFill>
                        </a:defRPr>
                      </a:pPr>
                      <a:r>
                        <a:t>Sensor fusion improves accuracy.</a:t>
                      </a:r>
                    </a:p>
                  </a:txBody>
                  <a:tcPr/>
                </a:tc>
                <a:tc>
                  <a:txBody>
                    <a:bodyPr/>
                    <a:lstStyle/>
                    <a:p>
                      <a:pPr>
                        <a:defRPr sz="1200">
                          <a:solidFill>
                            <a:srgbClr val="111827"/>
                          </a:solidFill>
                        </a:defRPr>
                      </a:pPr>
                      <a:r>
                        <a:t>Limited availability of damaged state data.</a:t>
                      </a:r>
                    </a:p>
                  </a:txBody>
                  <a:tcPr/>
                </a:tc>
                <a:tc>
                  <a:txBody>
                    <a:bodyPr/>
                    <a:lstStyle/>
                    <a:p>
                      <a:pPr>
                        <a:defRPr sz="1200">
                          <a:solidFill>
                            <a:srgbClr val="111827"/>
                          </a:solidFill>
                        </a:defRPr>
                      </a:pPr>
                      <a:r>
                        <a:t>Train on normal baseline deviations.</a:t>
                      </a: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6400800"/>
            <a:ext cx="8229600" cy="457200"/>
          </a:xfrm>
          <a:prstGeom prst="rect">
            <a:avLst/>
          </a:prstGeom>
          <a:noFill/>
        </p:spPr>
        <p:txBody>
          <a:bodyPr wrap="none">
            <a:spAutoFit/>
          </a:bodyPr>
          <a:lstStyle/>
          <a:p>
            <a:endParaRPr/>
          </a:p>
          <a:p>
            <a:pPr>
              <a:defRPr sz="1000">
                <a:solidFill>
                  <a:srgbClr val="64748B"/>
                </a:solidFill>
              </a:defRPr>
            </a:pPr>
            <a:r>
              <a:t>BRIDGEGUARD ML | IDP Review II | Project ID: 202600749</a:t>
            </a:r>
          </a:p>
        </p:txBody>
      </p:sp>
      <p:sp>
        <p:nvSpPr>
          <p:cNvPr id="3" name="TextBox 2"/>
          <p:cNvSpPr txBox="1"/>
          <p:nvPr/>
        </p:nvSpPr>
        <p:spPr>
          <a:xfrm>
            <a:off x="457200" y="365760"/>
            <a:ext cx="11274552" cy="914400"/>
          </a:xfrm>
          <a:prstGeom prst="rect">
            <a:avLst/>
          </a:prstGeom>
          <a:noFill/>
        </p:spPr>
        <p:txBody>
          <a:bodyPr wrap="none">
            <a:spAutoFit/>
          </a:bodyPr>
          <a:lstStyle/>
          <a:p>
            <a:endParaRPr/>
          </a:p>
          <a:p>
            <a:pPr>
              <a:defRPr sz="3600" b="1">
                <a:solidFill>
                  <a:srgbClr val="111827"/>
                </a:solidFill>
              </a:defRPr>
            </a:pPr>
            <a:r>
              <a:t>LITERATURE SURVEY (5/5)</a:t>
            </a:r>
          </a:p>
        </p:txBody>
      </p:sp>
      <p:graphicFrame>
        <p:nvGraphicFramePr>
          <p:cNvPr id="4" name="Table 3"/>
          <p:cNvGraphicFramePr>
            <a:graphicFrameLocks noGrp="1"/>
          </p:cNvGraphicFramePr>
          <p:nvPr/>
        </p:nvGraphicFramePr>
        <p:xfrm>
          <a:off x="457200" y="1371600"/>
          <a:ext cx="11274552" cy="4572000"/>
        </p:xfrm>
        <a:graphic>
          <a:graphicData uri="http://schemas.openxmlformats.org/drawingml/2006/table">
            <a:tbl>
              <a:tblPr firstRow="1" bandRow="1">
                <a:tableStyleId>{5C22544A-7EE6-4342-B048-85BDC9FD1C3A}</a:tableStyleId>
              </a:tblPr>
              <a:tblGrid>
                <a:gridCol w="2254910">
                  <a:extLst>
                    <a:ext uri="{9D8B030D-6E8A-4147-A177-3AD203B41FA5}">
                      <a16:colId xmlns:a16="http://schemas.microsoft.com/office/drawing/2014/main" val="20000"/>
                    </a:ext>
                  </a:extLst>
                </a:gridCol>
                <a:gridCol w="2254910">
                  <a:extLst>
                    <a:ext uri="{9D8B030D-6E8A-4147-A177-3AD203B41FA5}">
                      <a16:colId xmlns:a16="http://schemas.microsoft.com/office/drawing/2014/main" val="20001"/>
                    </a:ext>
                  </a:extLst>
                </a:gridCol>
                <a:gridCol w="2254910">
                  <a:extLst>
                    <a:ext uri="{9D8B030D-6E8A-4147-A177-3AD203B41FA5}">
                      <a16:colId xmlns:a16="http://schemas.microsoft.com/office/drawing/2014/main" val="20002"/>
                    </a:ext>
                  </a:extLst>
                </a:gridCol>
                <a:gridCol w="2254910">
                  <a:extLst>
                    <a:ext uri="{9D8B030D-6E8A-4147-A177-3AD203B41FA5}">
                      <a16:colId xmlns:a16="http://schemas.microsoft.com/office/drawing/2014/main" val="20003"/>
                    </a:ext>
                  </a:extLst>
                </a:gridCol>
                <a:gridCol w="2254912">
                  <a:extLst>
                    <a:ext uri="{9D8B030D-6E8A-4147-A177-3AD203B41FA5}">
                      <a16:colId xmlns:a16="http://schemas.microsoft.com/office/drawing/2014/main" val="20004"/>
                    </a:ext>
                  </a:extLst>
                </a:gridCol>
              </a:tblGrid>
              <a:tr h="1143000">
                <a:tc>
                  <a:txBody>
                    <a:bodyPr/>
                    <a:lstStyle/>
                    <a:p>
                      <a:pPr>
                        <a:defRPr sz="1400" b="1">
                          <a:solidFill>
                            <a:srgbClr val="FFFFFF"/>
                          </a:solidFill>
                        </a:defRPr>
                      </a:pPr>
                      <a:r>
                        <a:t>Paper / Authors</a:t>
                      </a:r>
                    </a:p>
                  </a:txBody>
                  <a:tcPr>
                    <a:solidFill>
                      <a:srgbClr val="2563EB"/>
                    </a:solidFill>
                  </a:tcPr>
                </a:tc>
                <a:tc>
                  <a:txBody>
                    <a:bodyPr/>
                    <a:lstStyle/>
                    <a:p>
                      <a:pPr>
                        <a:defRPr sz="1400" b="1">
                          <a:solidFill>
                            <a:srgbClr val="FFFFFF"/>
                          </a:solidFill>
                        </a:defRPr>
                      </a:pPr>
                      <a:r>
                        <a:t>Focus</a:t>
                      </a:r>
                    </a:p>
                  </a:txBody>
                  <a:tcPr>
                    <a:solidFill>
                      <a:srgbClr val="2563EB"/>
                    </a:solidFill>
                  </a:tcPr>
                </a:tc>
                <a:tc>
                  <a:txBody>
                    <a:bodyPr/>
                    <a:lstStyle/>
                    <a:p>
                      <a:pPr>
                        <a:defRPr sz="1400" b="1">
                          <a:solidFill>
                            <a:srgbClr val="FFFFFF"/>
                          </a:solidFill>
                        </a:defRPr>
                      </a:pPr>
                      <a:r>
                        <a:t>Key Takeaway</a:t>
                      </a:r>
                    </a:p>
                  </a:txBody>
                  <a:tcPr>
                    <a:solidFill>
                      <a:srgbClr val="2563EB"/>
                    </a:solidFill>
                  </a:tcPr>
                </a:tc>
                <a:tc>
                  <a:txBody>
                    <a:bodyPr/>
                    <a:lstStyle/>
                    <a:p>
                      <a:pPr>
                        <a:defRPr sz="1400" b="1">
                          <a:solidFill>
                            <a:srgbClr val="FFFFFF"/>
                          </a:solidFill>
                        </a:defRPr>
                      </a:pPr>
                      <a:r>
                        <a:t>Limitation / Future Scope</a:t>
                      </a:r>
                    </a:p>
                  </a:txBody>
                  <a:tcPr>
                    <a:solidFill>
                      <a:srgbClr val="2563EB"/>
                    </a:solidFill>
                  </a:tcPr>
                </a:tc>
                <a:tc>
                  <a:txBody>
                    <a:bodyPr/>
                    <a:lstStyle/>
                    <a:p>
                      <a:pPr>
                        <a:defRPr sz="1400" b="1">
                          <a:solidFill>
                            <a:srgbClr val="FFFFFF"/>
                          </a:solidFill>
                        </a:defRPr>
                      </a:pPr>
                      <a:r>
                        <a:t>Our Proposed Response</a:t>
                      </a:r>
                    </a:p>
                  </a:txBody>
                  <a:tcPr>
                    <a:solidFill>
                      <a:srgbClr val="2563EB"/>
                    </a:solidFill>
                  </a:tcPr>
                </a:tc>
                <a:extLst>
                  <a:ext uri="{0D108BD9-81ED-4DB2-BD59-A6C34878D82A}">
                    <a16:rowId xmlns:a16="http://schemas.microsoft.com/office/drawing/2014/main" val="10000"/>
                  </a:ext>
                </a:extLst>
              </a:tr>
              <a:tr h="1143000">
                <a:tc>
                  <a:txBody>
                    <a:bodyPr/>
                    <a:lstStyle/>
                    <a:p>
                      <a:pPr>
                        <a:defRPr sz="1200">
                          <a:solidFill>
                            <a:srgbClr val="111827"/>
                          </a:solidFill>
                        </a:defRPr>
                      </a:pPr>
                      <a:r>
                        <a:t>Vamvoudakis-Stefanou (2023)</a:t>
                      </a:r>
                    </a:p>
                  </a:txBody>
                  <a:tcPr/>
                </a:tc>
                <a:tc>
                  <a:txBody>
                    <a:bodyPr/>
                    <a:lstStyle/>
                    <a:p>
                      <a:pPr>
                        <a:defRPr sz="1200">
                          <a:solidFill>
                            <a:srgbClr val="111827"/>
                          </a:solidFill>
                        </a:defRPr>
                      </a:pPr>
                      <a:r>
                        <a:t>Unsupervised damage detection</a:t>
                      </a:r>
                    </a:p>
                  </a:txBody>
                  <a:tcPr/>
                </a:tc>
                <a:tc>
                  <a:txBody>
                    <a:bodyPr/>
                    <a:lstStyle/>
                    <a:p>
                      <a:pPr>
                        <a:defRPr sz="1200">
                          <a:solidFill>
                            <a:srgbClr val="111827"/>
                          </a:solidFill>
                        </a:defRPr>
                      </a:pPr>
                      <a:r>
                        <a:t>Transfer learning helps across populations.</a:t>
                      </a:r>
                    </a:p>
                  </a:txBody>
                  <a:tcPr/>
                </a:tc>
                <a:tc>
                  <a:txBody>
                    <a:bodyPr/>
                    <a:lstStyle/>
                    <a:p>
                      <a:pPr>
                        <a:defRPr sz="1200">
                          <a:solidFill>
                            <a:srgbClr val="111827"/>
                          </a:solidFill>
                        </a:defRPr>
                      </a:pPr>
                      <a:r>
                        <a:t>Requires high structural similarity.</a:t>
                      </a:r>
                    </a:p>
                  </a:txBody>
                  <a:tcPr/>
                </a:tc>
                <a:tc>
                  <a:txBody>
                    <a:bodyPr/>
                    <a:lstStyle/>
                    <a:p>
                      <a:pPr>
                        <a:defRPr sz="1200">
                          <a:solidFill>
                            <a:srgbClr val="111827"/>
                          </a:solidFill>
                        </a:defRPr>
                      </a:pPr>
                      <a:r>
                        <a:t>Analyze generalization limitations.</a:t>
                      </a:r>
                    </a:p>
                  </a:txBody>
                  <a:tcPr/>
                </a:tc>
                <a:extLst>
                  <a:ext uri="{0D108BD9-81ED-4DB2-BD59-A6C34878D82A}">
                    <a16:rowId xmlns:a16="http://schemas.microsoft.com/office/drawing/2014/main" val="10001"/>
                  </a:ext>
                </a:extLst>
              </a:tr>
              <a:tr h="1143000">
                <a:tc>
                  <a:txBody>
                    <a:bodyPr/>
                    <a:lstStyle/>
                    <a:p>
                      <a:pPr>
                        <a:defRPr sz="1200">
                          <a:solidFill>
                            <a:srgbClr val="111827"/>
                          </a:solidFill>
                        </a:defRPr>
                      </a:pPr>
                      <a:r>
                        <a:t>Sony et al. (2021)</a:t>
                      </a:r>
                    </a:p>
                  </a:txBody>
                  <a:tcPr/>
                </a:tc>
                <a:tc>
                  <a:txBody>
                    <a:bodyPr/>
                    <a:lstStyle/>
                    <a:p>
                      <a:pPr>
                        <a:defRPr sz="1200">
                          <a:solidFill>
                            <a:srgbClr val="111827"/>
                          </a:solidFill>
                        </a:defRPr>
                      </a:pPr>
                      <a:r>
                        <a:t>Smart sensing technology in SHM</a:t>
                      </a:r>
                    </a:p>
                  </a:txBody>
                  <a:tcPr/>
                </a:tc>
                <a:tc>
                  <a:txBody>
                    <a:bodyPr/>
                    <a:lstStyle/>
                    <a:p>
                      <a:pPr>
                        <a:defRPr sz="1200">
                          <a:solidFill>
                            <a:srgbClr val="111827"/>
                          </a:solidFill>
                        </a:defRPr>
                      </a:pPr>
                      <a:r>
                        <a:t>IoT enables real-time continuous SHM.</a:t>
                      </a:r>
                    </a:p>
                  </a:txBody>
                  <a:tcPr/>
                </a:tc>
                <a:tc>
                  <a:txBody>
                    <a:bodyPr/>
                    <a:lstStyle/>
                    <a:p>
                      <a:pPr>
                        <a:defRPr sz="1200">
                          <a:solidFill>
                            <a:srgbClr val="111827"/>
                          </a:solidFill>
                        </a:defRPr>
                      </a:pPr>
                      <a:r>
                        <a:t>Data synchronization and power constraints.</a:t>
                      </a:r>
                    </a:p>
                  </a:txBody>
                  <a:tcPr/>
                </a:tc>
                <a:tc>
                  <a:txBody>
                    <a:bodyPr/>
                    <a:lstStyle/>
                    <a:p>
                      <a:pPr>
                        <a:defRPr sz="1200">
                          <a:solidFill>
                            <a:srgbClr val="111827"/>
                          </a:solidFill>
                        </a:defRPr>
                      </a:pPr>
                      <a:r>
                        <a:t>Design edge-compatible feature extraction.</a:t>
                      </a:r>
                    </a:p>
                  </a:txBody>
                  <a:tcPr/>
                </a:tc>
                <a:extLst>
                  <a:ext uri="{0D108BD9-81ED-4DB2-BD59-A6C34878D82A}">
                    <a16:rowId xmlns:a16="http://schemas.microsoft.com/office/drawing/2014/main" val="10002"/>
                  </a:ext>
                </a:extLst>
              </a:tr>
              <a:tr h="1143000">
                <a:tc>
                  <a:txBody>
                    <a:bodyPr/>
                    <a:lstStyle/>
                    <a:p>
                      <a:pPr>
                        <a:defRPr sz="1200">
                          <a:solidFill>
                            <a:srgbClr val="111827"/>
                          </a:solidFill>
                        </a:defRPr>
                      </a:pPr>
                      <a:r>
                        <a:t>Huang et al. (2019)</a:t>
                      </a:r>
                    </a:p>
                  </a:txBody>
                  <a:tcPr/>
                </a:tc>
                <a:tc>
                  <a:txBody>
                    <a:bodyPr/>
                    <a:lstStyle/>
                    <a:p>
                      <a:pPr>
                        <a:defRPr sz="1200">
                          <a:solidFill>
                            <a:srgbClr val="111827"/>
                          </a:solidFill>
                        </a:defRPr>
                      </a:pPr>
                      <a:r>
                        <a:t>Anomaly detection in bridge data</a:t>
                      </a:r>
                    </a:p>
                  </a:txBody>
                  <a:tcPr/>
                </a:tc>
                <a:tc>
                  <a:txBody>
                    <a:bodyPr/>
                    <a:lstStyle/>
                    <a:p>
                      <a:pPr>
                        <a:defRPr sz="1200">
                          <a:solidFill>
                            <a:srgbClr val="111827"/>
                          </a:solidFill>
                        </a:defRPr>
                      </a:pPr>
                      <a:r>
                        <a:t>Ensemble models give robust anomaly detection.</a:t>
                      </a:r>
                    </a:p>
                  </a:txBody>
                  <a:tcPr/>
                </a:tc>
                <a:tc>
                  <a:txBody>
                    <a:bodyPr/>
                    <a:lstStyle/>
                    <a:p>
                      <a:pPr>
                        <a:defRPr sz="1200">
                          <a:solidFill>
                            <a:srgbClr val="111827"/>
                          </a:solidFill>
                        </a:defRPr>
                      </a:pPr>
                      <a:r>
                        <a:t>Imbalanced data affects model reliability.</a:t>
                      </a:r>
                    </a:p>
                  </a:txBody>
                  <a:tcPr/>
                </a:tc>
                <a:tc>
                  <a:txBody>
                    <a:bodyPr/>
                    <a:lstStyle/>
                    <a:p>
                      <a:pPr>
                        <a:defRPr sz="1200">
                          <a:solidFill>
                            <a:srgbClr val="111827"/>
                          </a:solidFill>
                        </a:defRPr>
                      </a:pPr>
                      <a:r>
                        <a:t>Use anomaly/one-class formulations if needed.</a:t>
                      </a: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6400800"/>
            <a:ext cx="8229600" cy="457200"/>
          </a:xfrm>
          <a:prstGeom prst="rect">
            <a:avLst/>
          </a:prstGeom>
          <a:noFill/>
        </p:spPr>
        <p:txBody>
          <a:bodyPr wrap="none">
            <a:spAutoFit/>
          </a:bodyPr>
          <a:lstStyle/>
          <a:p>
            <a:endParaRPr/>
          </a:p>
          <a:p>
            <a:pPr>
              <a:defRPr sz="1000">
                <a:solidFill>
                  <a:srgbClr val="64748B"/>
                </a:solidFill>
              </a:defRPr>
            </a:pPr>
            <a:r>
              <a:t>BRIDGEGUARD ML | IDP Review II | Project ID: 202600749</a:t>
            </a:r>
          </a:p>
        </p:txBody>
      </p:sp>
      <p:sp>
        <p:nvSpPr>
          <p:cNvPr id="3" name="TextBox 2"/>
          <p:cNvSpPr txBox="1"/>
          <p:nvPr/>
        </p:nvSpPr>
        <p:spPr>
          <a:xfrm>
            <a:off x="457200" y="365760"/>
            <a:ext cx="11274552" cy="914400"/>
          </a:xfrm>
          <a:prstGeom prst="rect">
            <a:avLst/>
          </a:prstGeom>
          <a:noFill/>
        </p:spPr>
        <p:txBody>
          <a:bodyPr wrap="none">
            <a:spAutoFit/>
          </a:bodyPr>
          <a:lstStyle/>
          <a:p>
            <a:endParaRPr/>
          </a:p>
          <a:p>
            <a:pPr>
              <a:defRPr sz="3600" b="1">
                <a:solidFill>
                  <a:srgbClr val="111827"/>
                </a:solidFill>
              </a:defRPr>
            </a:pPr>
            <a:r>
              <a:t>RESEARCH GAP &amp; PROPOSED DIRECTION</a:t>
            </a:r>
          </a:p>
        </p:txBody>
      </p:sp>
      <p:sp>
        <p:nvSpPr>
          <p:cNvPr id="4" name="TextBox 3"/>
          <p:cNvSpPr txBox="1"/>
          <p:nvPr/>
        </p:nvSpPr>
        <p:spPr>
          <a:xfrm>
            <a:off x="457200" y="1371600"/>
            <a:ext cx="11274552" cy="914400"/>
          </a:xfrm>
          <a:prstGeom prst="rect">
            <a:avLst/>
          </a:prstGeom>
          <a:noFill/>
        </p:spPr>
        <p:txBody>
          <a:bodyPr wrap="none">
            <a:spAutoFit/>
          </a:bodyPr>
          <a:lstStyle/>
          <a:p>
            <a:pPr algn="ctr">
              <a:defRPr sz="1600" b="1">
                <a:solidFill>
                  <a:srgbClr val="64748B"/>
                </a:solidFill>
              </a:defRPr>
            </a:pPr>
            <a:r>
              <a:t>Existing SHM   →   Sensor Data   →   Feature Extraction   →   ML Prediction</a:t>
            </a:r>
          </a:p>
        </p:txBody>
      </p:sp>
      <p:sp>
        <p:nvSpPr>
          <p:cNvPr id="5" name="TextBox 4"/>
          <p:cNvSpPr txBox="1"/>
          <p:nvPr/>
        </p:nvSpPr>
        <p:spPr>
          <a:xfrm>
            <a:off x="457200" y="2011680"/>
            <a:ext cx="11274552" cy="2286000"/>
          </a:xfrm>
          <a:prstGeom prst="rect">
            <a:avLst/>
          </a:prstGeom>
          <a:noFill/>
        </p:spPr>
        <p:txBody>
          <a:bodyPr wrap="none">
            <a:spAutoFit/>
          </a:bodyPr>
          <a:lstStyle/>
          <a:p>
            <a:endParaRPr/>
          </a:p>
          <a:p>
            <a:pPr>
              <a:defRPr sz="1800" b="1">
                <a:solidFill>
                  <a:srgbClr val="DC2626"/>
                </a:solidFill>
              </a:defRPr>
            </a:pPr>
            <a:r>
              <a:t>Identified Limitations:</a:t>
            </a:r>
          </a:p>
          <a:p>
            <a:pPr>
              <a:defRPr sz="1600">
                <a:solidFill>
                  <a:srgbClr val="111827"/>
                </a:solidFill>
              </a:defRPr>
            </a:pPr>
            <a:r>
              <a:t>• Absolute sensor values are not directly transferable across different bridges.</a:t>
            </a:r>
          </a:p>
          <a:p>
            <a:pPr>
              <a:defRPr sz="1600">
                <a:solidFill>
                  <a:srgbClr val="111827"/>
                </a:solidFill>
              </a:defRPr>
            </a:pPr>
            <a:r>
              <a:t>• Environmental and operational variability can heavily affect sensor response.</a:t>
            </a:r>
          </a:p>
          <a:p>
            <a:pPr>
              <a:defRPr sz="1600">
                <a:solidFill>
                  <a:srgbClr val="111827"/>
                </a:solidFill>
              </a:defRPr>
            </a:pPr>
            <a:r>
              <a:t>• Fixed thresholds become overly simplistic decision rules.</a:t>
            </a:r>
          </a:p>
          <a:p>
            <a:pPr>
              <a:defRPr sz="1600">
                <a:solidFill>
                  <a:srgbClr val="111827"/>
                </a:solidFill>
              </a:defRPr>
            </a:pPr>
            <a:r>
              <a:t>• Some ML predictions lack interpretability (black-box models).</a:t>
            </a:r>
          </a:p>
          <a:p>
            <a:pPr>
              <a:defRPr sz="1600">
                <a:solidFill>
                  <a:srgbClr val="111827"/>
                </a:solidFill>
              </a:defRPr>
            </a:pPr>
            <a:r>
              <a:t>• Individual studies often focus solely on one dataset or structure.</a:t>
            </a:r>
          </a:p>
        </p:txBody>
      </p:sp>
      <p:sp>
        <p:nvSpPr>
          <p:cNvPr id="6" name="TextBox 5"/>
          <p:cNvSpPr txBox="1"/>
          <p:nvPr/>
        </p:nvSpPr>
        <p:spPr>
          <a:xfrm>
            <a:off x="457200" y="4114800"/>
            <a:ext cx="11274552" cy="1828800"/>
          </a:xfrm>
          <a:prstGeom prst="rect">
            <a:avLst/>
          </a:prstGeom>
          <a:solidFill>
            <a:srgbClr val="EFF6FF"/>
          </a:solidFill>
        </p:spPr>
        <p:txBody>
          <a:bodyPr wrap="none">
            <a:spAutoFit/>
          </a:bodyPr>
          <a:lstStyle/>
          <a:p>
            <a:endParaRPr/>
          </a:p>
          <a:p>
            <a:pPr algn="ctr">
              <a:defRPr sz="2000" b="1">
                <a:solidFill>
                  <a:srgbClr val="2563EB"/>
                </a:solidFill>
              </a:defRPr>
            </a:pPr>
            <a:r>
              <a:t>OUR DIRECTION</a:t>
            </a:r>
          </a:p>
          <a:p>
            <a:pPr algn="ctr">
              <a:spcBef>
                <a:spcPts val="1000"/>
              </a:spcBef>
              <a:defRPr sz="1800" b="1">
                <a:solidFill>
                  <a:srgbClr val="111827"/>
                </a:solidFill>
              </a:defRPr>
            </a:pPr>
            <a:r>
              <a:t>Health-Relative Features  +  Bridge-Specific Baseline  +  ML Algorithm Comparison  +  SHAP Explainability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6400800"/>
            <a:ext cx="8229600" cy="457200"/>
          </a:xfrm>
          <a:prstGeom prst="rect">
            <a:avLst/>
          </a:prstGeom>
          <a:noFill/>
        </p:spPr>
        <p:txBody>
          <a:bodyPr wrap="none">
            <a:spAutoFit/>
          </a:bodyPr>
          <a:lstStyle/>
          <a:p>
            <a:endParaRPr/>
          </a:p>
          <a:p>
            <a:pPr>
              <a:defRPr sz="1000">
                <a:solidFill>
                  <a:srgbClr val="64748B"/>
                </a:solidFill>
              </a:defRPr>
            </a:pPr>
            <a:r>
              <a:t>BRIDGEGUARD ML | IDP Review II | Project ID: 202600749</a:t>
            </a:r>
          </a:p>
        </p:txBody>
      </p:sp>
      <p:sp>
        <p:nvSpPr>
          <p:cNvPr id="3" name="TextBox 2"/>
          <p:cNvSpPr txBox="1"/>
          <p:nvPr/>
        </p:nvSpPr>
        <p:spPr>
          <a:xfrm>
            <a:off x="457200" y="365760"/>
            <a:ext cx="11274552" cy="914400"/>
          </a:xfrm>
          <a:prstGeom prst="rect">
            <a:avLst/>
          </a:prstGeom>
          <a:noFill/>
        </p:spPr>
        <p:txBody>
          <a:bodyPr wrap="none">
            <a:spAutoFit/>
          </a:bodyPr>
          <a:lstStyle/>
          <a:p>
            <a:endParaRPr/>
          </a:p>
          <a:p>
            <a:pPr>
              <a:defRPr sz="3600" b="1">
                <a:solidFill>
                  <a:srgbClr val="111827"/>
                </a:solidFill>
              </a:defRPr>
            </a:pPr>
            <a:r>
              <a:t>PROJECT OBJECTIVES</a:t>
            </a:r>
          </a:p>
        </p:txBody>
      </p:sp>
      <p:sp>
        <p:nvSpPr>
          <p:cNvPr id="4" name="TextBox 3"/>
          <p:cNvSpPr txBox="1"/>
          <p:nvPr/>
        </p:nvSpPr>
        <p:spPr>
          <a:xfrm>
            <a:off x="914400" y="1371600"/>
            <a:ext cx="10360152" cy="4572000"/>
          </a:xfrm>
          <a:prstGeom prst="rect">
            <a:avLst/>
          </a:prstGeom>
          <a:noFill/>
        </p:spPr>
        <p:txBody>
          <a:bodyPr wrap="none">
            <a:spAutoFit/>
          </a:bodyPr>
          <a:lstStyle/>
          <a:p>
            <a:endParaRPr/>
          </a:p>
          <a:p>
            <a:pPr>
              <a:spcAft>
                <a:spcPts val="2000"/>
              </a:spcAft>
              <a:defRPr sz="2000" b="1">
                <a:solidFill>
                  <a:srgbClr val="111827"/>
                </a:solidFill>
              </a:defRPr>
            </a:pPr>
            <a:r>
              <a:t>1. Develop health-relative feature extraction from bridge response data.</a:t>
            </a:r>
          </a:p>
          <a:p>
            <a:pPr>
              <a:spcAft>
                <a:spcPts val="2000"/>
              </a:spcAft>
              <a:defRPr sz="2000" b="1">
                <a:solidFill>
                  <a:srgbClr val="111827"/>
                </a:solidFill>
              </a:defRPr>
            </a:pPr>
            <a:r>
              <a:t>2. Establish bridge-specific healthy baselines and normalized health indicators.</a:t>
            </a:r>
          </a:p>
          <a:p>
            <a:pPr>
              <a:spcAft>
                <a:spcPts val="2000"/>
              </a:spcAft>
              <a:defRPr sz="2000" b="1">
                <a:solidFill>
                  <a:srgbClr val="111827"/>
                </a:solidFill>
              </a:defRPr>
            </a:pPr>
            <a:r>
              <a:t>3. Compare multiple ML algorithms for structural condition / anomaly detection.</a:t>
            </a:r>
          </a:p>
          <a:p>
            <a:pPr>
              <a:spcAft>
                <a:spcPts val="2000"/>
              </a:spcAft>
              <a:defRPr sz="2000" b="1">
                <a:solidFill>
                  <a:srgbClr val="111827"/>
                </a:solidFill>
              </a:defRPr>
            </a:pPr>
            <a:r>
              <a:t>4. Select an appropriate model based on validation performance and suitability.</a:t>
            </a:r>
          </a:p>
          <a:p>
            <a:pPr>
              <a:spcAft>
                <a:spcPts val="2000"/>
              </a:spcAft>
              <a:defRPr sz="2000" b="1">
                <a:solidFill>
                  <a:srgbClr val="111827"/>
                </a:solidFill>
              </a:defRPr>
            </a:pPr>
            <a:r>
              <a:t>5. Integrate SHAP-based explainability for ML predictions.</a:t>
            </a:r>
          </a:p>
          <a:p>
            <a:pPr>
              <a:spcAft>
                <a:spcPts val="2000"/>
              </a:spcAft>
              <a:defRPr sz="2000" b="1">
                <a:solidFill>
                  <a:srgbClr val="111827"/>
                </a:solidFill>
              </a:defRPr>
            </a:pPr>
            <a:r>
              <a:t>6. Develop a dashboard that communicates prediction, trends and feature contributions.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6400800"/>
            <a:ext cx="8229600" cy="457200"/>
          </a:xfrm>
          <a:prstGeom prst="rect">
            <a:avLst/>
          </a:prstGeom>
          <a:noFill/>
        </p:spPr>
        <p:txBody>
          <a:bodyPr wrap="none">
            <a:spAutoFit/>
          </a:bodyPr>
          <a:lstStyle/>
          <a:p>
            <a:endParaRPr/>
          </a:p>
          <a:p>
            <a:pPr>
              <a:defRPr sz="1000">
                <a:solidFill>
                  <a:srgbClr val="64748B"/>
                </a:solidFill>
              </a:defRPr>
            </a:pPr>
            <a:r>
              <a:t>BRIDGEGUARD ML | IDP Review II | Project ID: 202600749</a:t>
            </a:r>
          </a:p>
        </p:txBody>
      </p:sp>
      <p:sp>
        <p:nvSpPr>
          <p:cNvPr id="3" name="TextBox 2"/>
          <p:cNvSpPr txBox="1"/>
          <p:nvPr/>
        </p:nvSpPr>
        <p:spPr>
          <a:xfrm>
            <a:off x="457200" y="365760"/>
            <a:ext cx="11274552" cy="914400"/>
          </a:xfrm>
          <a:prstGeom prst="rect">
            <a:avLst/>
          </a:prstGeom>
          <a:noFill/>
        </p:spPr>
        <p:txBody>
          <a:bodyPr wrap="none">
            <a:spAutoFit/>
          </a:bodyPr>
          <a:lstStyle/>
          <a:p>
            <a:endParaRPr/>
          </a:p>
          <a:p>
            <a:pPr>
              <a:defRPr sz="3600" b="1">
                <a:solidFill>
                  <a:srgbClr val="111827"/>
                </a:solidFill>
              </a:defRPr>
            </a:pPr>
            <a:r>
              <a:t>PROPOSED METHODOLOGY</a:t>
            </a:r>
          </a:p>
        </p:txBody>
      </p:sp>
      <p:sp>
        <p:nvSpPr>
          <p:cNvPr id="4" name="TextBox 3"/>
          <p:cNvSpPr txBox="1"/>
          <p:nvPr/>
        </p:nvSpPr>
        <p:spPr>
          <a:xfrm>
            <a:off x="457200" y="1188720"/>
            <a:ext cx="11274552" cy="4572000"/>
          </a:xfrm>
          <a:prstGeom prst="rect">
            <a:avLst/>
          </a:prstGeom>
          <a:noFill/>
        </p:spPr>
        <p:txBody>
          <a:bodyPr wrap="none">
            <a:spAutoFit/>
          </a:bodyPr>
          <a:lstStyle/>
          <a:p>
            <a:endParaRPr/>
          </a:p>
          <a:p>
            <a:pPr algn="ctr">
              <a:defRPr sz="1400" b="1">
                <a:solidFill>
                  <a:srgbClr val="111827"/>
                </a:solidFill>
              </a:defRPr>
            </a:pPr>
            <a:r>
              <a:t>DATA SOURCES (Real SHM datasets &amp; Future physical miniature bridge)</a:t>
            </a:r>
          </a:p>
          <a:p>
            <a:pPr algn="ctr">
              <a:defRPr sz="1400" b="0">
                <a:solidFill>
                  <a:srgbClr val="2563EB"/>
                </a:solidFill>
              </a:defRPr>
            </a:pPr>
            <a:r>
              <a:t>↓</a:t>
            </a:r>
          </a:p>
          <a:p>
            <a:pPr algn="ctr">
              <a:defRPr sz="1400" b="1">
                <a:solidFill>
                  <a:srgbClr val="111827"/>
                </a:solidFill>
              </a:defRPr>
            </a:pPr>
            <a:r>
              <a:t>Preprocessing</a:t>
            </a:r>
          </a:p>
          <a:p>
            <a:pPr algn="ctr">
              <a:defRPr sz="1400" b="0">
                <a:solidFill>
                  <a:srgbClr val="2563EB"/>
                </a:solidFill>
              </a:defRPr>
            </a:pPr>
            <a:r>
              <a:t>↓</a:t>
            </a:r>
          </a:p>
          <a:p>
            <a:pPr algn="ctr">
              <a:defRPr sz="1400" b="1">
                <a:solidFill>
                  <a:srgbClr val="111827"/>
                </a:solidFill>
              </a:defRPr>
            </a:pPr>
            <a:r>
              <a:t>Health-Relative Feature Extraction (RMS, Peak, StdDev, Freq, Tilt, Temp)</a:t>
            </a:r>
          </a:p>
          <a:p>
            <a:pPr algn="ctr">
              <a:defRPr sz="1400" b="0">
                <a:solidFill>
                  <a:srgbClr val="2563EB"/>
                </a:solidFill>
              </a:defRPr>
            </a:pPr>
            <a:r>
              <a:t>↓</a:t>
            </a:r>
          </a:p>
          <a:p>
            <a:pPr algn="ctr">
              <a:defRPr sz="1400" b="1">
                <a:solidFill>
                  <a:srgbClr val="111827"/>
                </a:solidFill>
              </a:defRPr>
            </a:pPr>
            <a:r>
              <a:t>Healthy Baseline / Bridge-Specific Normalization</a:t>
            </a:r>
          </a:p>
          <a:p>
            <a:pPr algn="ctr">
              <a:defRPr sz="1400" b="0">
                <a:solidFill>
                  <a:srgbClr val="2563EB"/>
                </a:solidFill>
              </a:defRPr>
            </a:pPr>
            <a:r>
              <a:t>↓</a:t>
            </a:r>
          </a:p>
          <a:p>
            <a:pPr algn="ctr">
              <a:defRPr sz="1400" b="1">
                <a:solidFill>
                  <a:srgbClr val="111827"/>
                </a:solidFill>
              </a:defRPr>
            </a:pPr>
            <a:r>
              <a:t>ML Algorithm Comparison</a:t>
            </a:r>
          </a:p>
          <a:p>
            <a:pPr algn="ctr">
              <a:defRPr sz="1400" b="0">
                <a:solidFill>
                  <a:srgbClr val="2563EB"/>
                </a:solidFill>
              </a:defRPr>
            </a:pPr>
            <a:r>
              <a:t>↓</a:t>
            </a:r>
          </a:p>
          <a:p>
            <a:pPr algn="ctr">
              <a:defRPr sz="1400" b="1">
                <a:solidFill>
                  <a:srgbClr val="111827"/>
                </a:solidFill>
              </a:defRPr>
            </a:pPr>
            <a:r>
              <a:t>Selected ML Model</a:t>
            </a:r>
          </a:p>
          <a:p>
            <a:pPr algn="ctr">
              <a:defRPr sz="1400" b="0">
                <a:solidFill>
                  <a:srgbClr val="2563EB"/>
                </a:solidFill>
              </a:defRPr>
            </a:pPr>
            <a:r>
              <a:t>↓</a:t>
            </a:r>
          </a:p>
          <a:p>
            <a:pPr algn="ctr">
              <a:defRPr sz="1400" b="1">
                <a:solidFill>
                  <a:srgbClr val="111827"/>
                </a:solidFill>
              </a:defRPr>
            </a:pPr>
            <a:r>
              <a:t>Prediction</a:t>
            </a:r>
          </a:p>
          <a:p>
            <a:pPr algn="ctr">
              <a:defRPr sz="1400" b="0">
                <a:solidFill>
                  <a:srgbClr val="2563EB"/>
                </a:solidFill>
              </a:defRPr>
            </a:pPr>
            <a:r>
              <a:t>↓</a:t>
            </a:r>
          </a:p>
          <a:p>
            <a:pPr algn="ctr">
              <a:defRPr sz="1400" b="1">
                <a:solidFill>
                  <a:srgbClr val="111827"/>
                </a:solidFill>
              </a:defRPr>
            </a:pPr>
            <a:r>
              <a:t>SHAP Explainability</a:t>
            </a:r>
          </a:p>
          <a:p>
            <a:pPr algn="ctr">
              <a:defRPr sz="1400" b="0">
                <a:solidFill>
                  <a:srgbClr val="2563EB"/>
                </a:solidFill>
              </a:defRPr>
            </a:pPr>
            <a:r>
              <a:t>↓</a:t>
            </a:r>
          </a:p>
          <a:p>
            <a:pPr algn="ctr">
              <a:defRPr sz="1400" b="1">
                <a:solidFill>
                  <a:srgbClr val="111827"/>
                </a:solidFill>
              </a:defRPr>
            </a:pPr>
            <a:r>
              <a:t>Dashboard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6400800"/>
            <a:ext cx="8229600" cy="457200"/>
          </a:xfrm>
          <a:prstGeom prst="rect">
            <a:avLst/>
          </a:prstGeom>
          <a:noFill/>
        </p:spPr>
        <p:txBody>
          <a:bodyPr wrap="none">
            <a:spAutoFit/>
          </a:bodyPr>
          <a:lstStyle/>
          <a:p>
            <a:endParaRPr/>
          </a:p>
          <a:p>
            <a:pPr>
              <a:defRPr sz="1000">
                <a:solidFill>
                  <a:srgbClr val="64748B"/>
                </a:solidFill>
              </a:defRPr>
            </a:pPr>
            <a:r>
              <a:t>BRIDGEGUARD ML | IDP Review II | Project ID: 202600749</a:t>
            </a:r>
          </a:p>
        </p:txBody>
      </p:sp>
      <p:sp>
        <p:nvSpPr>
          <p:cNvPr id="3" name="TextBox 2"/>
          <p:cNvSpPr txBox="1"/>
          <p:nvPr/>
        </p:nvSpPr>
        <p:spPr>
          <a:xfrm>
            <a:off x="457200" y="365760"/>
            <a:ext cx="11274552" cy="914400"/>
          </a:xfrm>
          <a:prstGeom prst="rect">
            <a:avLst/>
          </a:prstGeom>
          <a:noFill/>
        </p:spPr>
        <p:txBody>
          <a:bodyPr wrap="none">
            <a:spAutoFit/>
          </a:bodyPr>
          <a:lstStyle/>
          <a:p>
            <a:endParaRPr/>
          </a:p>
          <a:p>
            <a:pPr>
              <a:defRPr sz="3600" b="1">
                <a:solidFill>
                  <a:srgbClr val="111827"/>
                </a:solidFill>
              </a:defRPr>
            </a:pPr>
            <a:r>
              <a:t>SYSTEM ARCHITECTURE</a:t>
            </a:r>
          </a:p>
        </p:txBody>
      </p:sp>
      <p:sp>
        <p:nvSpPr>
          <p:cNvPr id="4" name="TextBox 3"/>
          <p:cNvSpPr txBox="1"/>
          <p:nvPr/>
        </p:nvSpPr>
        <p:spPr>
          <a:xfrm>
            <a:off x="457200" y="1188720"/>
            <a:ext cx="11274552" cy="5029200"/>
          </a:xfrm>
          <a:prstGeom prst="rect">
            <a:avLst/>
          </a:prstGeom>
          <a:noFill/>
        </p:spPr>
        <p:txBody>
          <a:bodyPr wrap="none">
            <a:spAutoFit/>
          </a:bodyPr>
          <a:lstStyle/>
          <a:p>
            <a:endParaRPr/>
          </a:p>
          <a:p>
            <a:pPr algn="ctr">
              <a:defRPr sz="1200" b="1">
                <a:solidFill>
                  <a:srgbClr val="111827"/>
                </a:solidFill>
              </a:defRPr>
            </a:pPr>
            <a:r>
              <a:t>BRIDGE / SENSOR DATA</a:t>
            </a:r>
          </a:p>
          <a:p>
            <a:pPr algn="ctr">
              <a:defRPr sz="1200" b="1">
                <a:solidFill>
                  <a:srgbClr val="2563EB"/>
                </a:solidFill>
              </a:defRPr>
            </a:pPr>
            <a:r>
              <a:t>↓</a:t>
            </a:r>
          </a:p>
          <a:p>
            <a:pPr algn="ctr">
              <a:defRPr sz="1200" b="1">
                <a:solidFill>
                  <a:srgbClr val="111827"/>
                </a:solidFill>
              </a:defRPr>
            </a:pPr>
            <a:r>
              <a:t>DATASET / ESP32 SENSOR INPUT (Planned: MPU6050, Temp/Humidity)</a:t>
            </a:r>
          </a:p>
          <a:p>
            <a:pPr algn="ctr">
              <a:defRPr sz="1200" b="1">
                <a:solidFill>
                  <a:srgbClr val="2563EB"/>
                </a:solidFill>
              </a:defRPr>
            </a:pPr>
            <a:r>
              <a:t>↓</a:t>
            </a:r>
          </a:p>
          <a:p>
            <a:pPr algn="ctr">
              <a:defRPr sz="1200" b="1">
                <a:solidFill>
                  <a:srgbClr val="111827"/>
                </a:solidFill>
              </a:defRPr>
            </a:pPr>
            <a:r>
              <a:t>PREPROCESSING</a:t>
            </a:r>
          </a:p>
          <a:p>
            <a:pPr algn="ctr">
              <a:defRPr sz="1200" b="1">
                <a:solidFill>
                  <a:srgbClr val="2563EB"/>
                </a:solidFill>
              </a:defRPr>
            </a:pPr>
            <a:r>
              <a:t>↓</a:t>
            </a:r>
          </a:p>
          <a:p>
            <a:pPr algn="ctr">
              <a:defRPr sz="1200" b="1">
                <a:solidFill>
                  <a:srgbClr val="111827"/>
                </a:solidFill>
              </a:defRPr>
            </a:pPr>
            <a:r>
              <a:t>HEALTH-RELATIVE FEATURE EXTRACTION</a:t>
            </a:r>
          </a:p>
          <a:p>
            <a:pPr algn="ctr">
              <a:defRPr sz="1200" b="1">
                <a:solidFill>
                  <a:srgbClr val="2563EB"/>
                </a:solidFill>
              </a:defRPr>
            </a:pPr>
            <a:r>
              <a:t>↓</a:t>
            </a:r>
          </a:p>
          <a:p>
            <a:pPr algn="ctr">
              <a:defRPr sz="1200" b="1">
                <a:solidFill>
                  <a:srgbClr val="111827"/>
                </a:solidFill>
              </a:defRPr>
            </a:pPr>
            <a:r>
              <a:t>BRIDGE-SPECIFIC NORMALIZATION</a:t>
            </a:r>
          </a:p>
          <a:p>
            <a:pPr algn="ctr">
              <a:defRPr sz="1200" b="1">
                <a:solidFill>
                  <a:srgbClr val="2563EB"/>
                </a:solidFill>
              </a:defRPr>
            </a:pPr>
            <a:r>
              <a:t>↓</a:t>
            </a:r>
          </a:p>
          <a:p>
            <a:pPr algn="ctr">
              <a:defRPr sz="1200" b="1">
                <a:solidFill>
                  <a:srgbClr val="111827"/>
                </a:solidFill>
              </a:defRPr>
            </a:pPr>
            <a:r>
              <a:t>ML MODEL COMPARISON</a:t>
            </a:r>
          </a:p>
          <a:p>
            <a:pPr algn="ctr">
              <a:defRPr sz="1200" b="1">
                <a:solidFill>
                  <a:srgbClr val="2563EB"/>
                </a:solidFill>
              </a:defRPr>
            </a:pPr>
            <a:r>
              <a:t>↓</a:t>
            </a:r>
          </a:p>
          <a:p>
            <a:pPr algn="ctr">
              <a:defRPr sz="1200" b="1">
                <a:solidFill>
                  <a:srgbClr val="111827"/>
                </a:solidFill>
              </a:defRPr>
            </a:pPr>
            <a:r>
              <a:t>SELECTED ML MODEL</a:t>
            </a:r>
          </a:p>
          <a:p>
            <a:pPr algn="ctr">
              <a:defRPr sz="1200" b="1">
                <a:solidFill>
                  <a:srgbClr val="2563EB"/>
                </a:solidFill>
              </a:defRPr>
            </a:pPr>
            <a:r>
              <a:t>↓</a:t>
            </a:r>
          </a:p>
          <a:p>
            <a:pPr algn="ctr">
              <a:defRPr sz="1200" b="1">
                <a:solidFill>
                  <a:srgbClr val="111827"/>
                </a:solidFill>
              </a:defRPr>
            </a:pPr>
            <a:r>
              <a:t>PREDICTION</a:t>
            </a:r>
          </a:p>
          <a:p>
            <a:pPr algn="ctr">
              <a:defRPr sz="1200" b="1">
                <a:solidFill>
                  <a:srgbClr val="2563EB"/>
                </a:solidFill>
              </a:defRPr>
            </a:pPr>
            <a:r>
              <a:t>↓</a:t>
            </a:r>
          </a:p>
          <a:p>
            <a:pPr algn="ctr">
              <a:defRPr sz="1200" b="1">
                <a:solidFill>
                  <a:srgbClr val="111827"/>
                </a:solidFill>
              </a:defRPr>
            </a:pPr>
            <a:r>
              <a:t>SHAP EXPLANATION</a:t>
            </a:r>
          </a:p>
          <a:p>
            <a:pPr algn="ctr">
              <a:defRPr sz="1200" b="1">
                <a:solidFill>
                  <a:srgbClr val="2563EB"/>
                </a:solidFill>
              </a:defRPr>
            </a:pPr>
            <a:r>
              <a:t>↓</a:t>
            </a:r>
          </a:p>
          <a:p>
            <a:pPr algn="ctr">
              <a:defRPr sz="1200" b="1">
                <a:solidFill>
                  <a:srgbClr val="111827"/>
                </a:solidFill>
              </a:defRPr>
            </a:pPr>
            <a:r>
              <a:t>DASHBOARD</a:t>
            </a:r>
          </a:p>
          <a:p>
            <a:br/>
            <a:r>
              <a:t>*Note: Hardware (ESP32/Sensors) is planned / under development. Data transmission flows to ML processing and dashboard.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6400800"/>
            <a:ext cx="8229600" cy="457200"/>
          </a:xfrm>
          <a:prstGeom prst="rect">
            <a:avLst/>
          </a:prstGeom>
          <a:noFill/>
        </p:spPr>
        <p:txBody>
          <a:bodyPr wrap="none">
            <a:spAutoFit/>
          </a:bodyPr>
          <a:lstStyle/>
          <a:p>
            <a:endParaRPr/>
          </a:p>
          <a:p>
            <a:pPr>
              <a:defRPr sz="1000">
                <a:solidFill>
                  <a:srgbClr val="64748B"/>
                </a:solidFill>
              </a:defRPr>
            </a:pPr>
            <a:r>
              <a:t>BRIDGEGUARD ML | IDP Review II | Project ID: 202600749</a:t>
            </a:r>
          </a:p>
        </p:txBody>
      </p:sp>
      <p:sp>
        <p:nvSpPr>
          <p:cNvPr id="3" name="TextBox 2"/>
          <p:cNvSpPr txBox="1"/>
          <p:nvPr/>
        </p:nvSpPr>
        <p:spPr>
          <a:xfrm>
            <a:off x="457200" y="365760"/>
            <a:ext cx="11274552" cy="914400"/>
          </a:xfrm>
          <a:prstGeom prst="rect">
            <a:avLst/>
          </a:prstGeom>
          <a:noFill/>
        </p:spPr>
        <p:txBody>
          <a:bodyPr wrap="none">
            <a:spAutoFit/>
          </a:bodyPr>
          <a:lstStyle/>
          <a:p>
            <a:endParaRPr/>
          </a:p>
          <a:p>
            <a:pPr>
              <a:defRPr sz="3600" b="1">
                <a:solidFill>
                  <a:srgbClr val="111827"/>
                </a:solidFill>
              </a:defRPr>
            </a:pPr>
            <a:r>
              <a:t>COMPARATIVE ML MODEL SELECTION</a:t>
            </a:r>
          </a:p>
        </p:txBody>
      </p:sp>
      <p:graphicFrame>
        <p:nvGraphicFramePr>
          <p:cNvPr id="4" name="Table 3"/>
          <p:cNvGraphicFramePr>
            <a:graphicFrameLocks noGrp="1"/>
          </p:cNvGraphicFramePr>
          <p:nvPr/>
        </p:nvGraphicFramePr>
        <p:xfrm>
          <a:off x="457200" y="1371600"/>
          <a:ext cx="11274552" cy="3200400"/>
        </p:xfrm>
        <a:graphic>
          <a:graphicData uri="http://schemas.openxmlformats.org/drawingml/2006/table">
            <a:tbl>
              <a:tblPr firstRow="1" bandRow="1">
                <a:tableStyleId>{5C22544A-7EE6-4342-B048-85BDC9FD1C3A}</a:tableStyleId>
              </a:tblPr>
              <a:tblGrid>
                <a:gridCol w="2818638">
                  <a:extLst>
                    <a:ext uri="{9D8B030D-6E8A-4147-A177-3AD203B41FA5}">
                      <a16:colId xmlns:a16="http://schemas.microsoft.com/office/drawing/2014/main" val="20000"/>
                    </a:ext>
                  </a:extLst>
                </a:gridCol>
                <a:gridCol w="2818638">
                  <a:extLst>
                    <a:ext uri="{9D8B030D-6E8A-4147-A177-3AD203B41FA5}">
                      <a16:colId xmlns:a16="http://schemas.microsoft.com/office/drawing/2014/main" val="20001"/>
                    </a:ext>
                  </a:extLst>
                </a:gridCol>
                <a:gridCol w="2818638">
                  <a:extLst>
                    <a:ext uri="{9D8B030D-6E8A-4147-A177-3AD203B41FA5}">
                      <a16:colId xmlns:a16="http://schemas.microsoft.com/office/drawing/2014/main" val="20002"/>
                    </a:ext>
                  </a:extLst>
                </a:gridCol>
                <a:gridCol w="2818638">
                  <a:extLst>
                    <a:ext uri="{9D8B030D-6E8A-4147-A177-3AD203B41FA5}">
                      <a16:colId xmlns:a16="http://schemas.microsoft.com/office/drawing/2014/main" val="20003"/>
                    </a:ext>
                  </a:extLst>
                </a:gridCol>
              </a:tblGrid>
              <a:tr h="400050">
                <a:tc>
                  <a:txBody>
                    <a:bodyPr/>
                    <a:lstStyle/>
                    <a:p>
                      <a:pPr>
                        <a:defRPr sz="1400" b="1">
                          <a:solidFill>
                            <a:srgbClr val="FFFFFF"/>
                          </a:solidFill>
                        </a:defRPr>
                      </a:pPr>
                      <a:r>
                        <a:t>Algorithm</a:t>
                      </a:r>
                    </a:p>
                  </a:txBody>
                  <a:tcPr>
                    <a:solidFill>
                      <a:srgbClr val="2563EB"/>
                    </a:solidFill>
                  </a:tcPr>
                </a:tc>
                <a:tc>
                  <a:txBody>
                    <a:bodyPr/>
                    <a:lstStyle/>
                    <a:p>
                      <a:pPr>
                        <a:defRPr sz="1400" b="1">
                          <a:solidFill>
                            <a:srgbClr val="FFFFFF"/>
                          </a:solidFill>
                        </a:defRPr>
                      </a:pPr>
                      <a:r>
                        <a:t>Strength</a:t>
                      </a:r>
                    </a:p>
                  </a:txBody>
                  <a:tcPr>
                    <a:solidFill>
                      <a:srgbClr val="2563EB"/>
                    </a:solidFill>
                  </a:tcPr>
                </a:tc>
                <a:tc>
                  <a:txBody>
                    <a:bodyPr/>
                    <a:lstStyle/>
                    <a:p>
                      <a:pPr>
                        <a:defRPr sz="1400" b="1">
                          <a:solidFill>
                            <a:srgbClr val="FFFFFF"/>
                          </a:solidFill>
                        </a:defRPr>
                      </a:pPr>
                      <a:r>
                        <a:t>Limitation</a:t>
                      </a:r>
                    </a:p>
                  </a:txBody>
                  <a:tcPr>
                    <a:solidFill>
                      <a:srgbClr val="2563EB"/>
                    </a:solidFill>
                  </a:tcPr>
                </a:tc>
                <a:tc>
                  <a:txBody>
                    <a:bodyPr/>
                    <a:lstStyle/>
                    <a:p>
                      <a:pPr>
                        <a:defRPr sz="1400" b="1">
                          <a:solidFill>
                            <a:srgbClr val="FFFFFF"/>
                          </a:solidFill>
                        </a:defRPr>
                      </a:pPr>
                      <a:r>
                        <a:t>Role in our study</a:t>
                      </a:r>
                    </a:p>
                  </a:txBody>
                  <a:tcPr>
                    <a:solidFill>
                      <a:srgbClr val="2563EB"/>
                    </a:solidFill>
                  </a:tcPr>
                </a:tc>
                <a:extLst>
                  <a:ext uri="{0D108BD9-81ED-4DB2-BD59-A6C34878D82A}">
                    <a16:rowId xmlns:a16="http://schemas.microsoft.com/office/drawing/2014/main" val="10000"/>
                  </a:ext>
                </a:extLst>
              </a:tr>
              <a:tr h="400050">
                <a:tc>
                  <a:txBody>
                    <a:bodyPr/>
                    <a:lstStyle/>
                    <a:p>
                      <a:pPr>
                        <a:defRPr sz="1200"/>
                      </a:pPr>
                      <a:r>
                        <a:t>Logistic Regression</a:t>
                      </a:r>
                    </a:p>
                  </a:txBody>
                  <a:tcPr/>
                </a:tc>
                <a:tc>
                  <a:txBody>
                    <a:bodyPr/>
                    <a:lstStyle/>
                    <a:p>
                      <a:pPr>
                        <a:defRPr sz="1200"/>
                      </a:pPr>
                      <a:r>
                        <a:t>Simple, interpretable baseline</a:t>
                      </a:r>
                    </a:p>
                  </a:txBody>
                  <a:tcPr/>
                </a:tc>
                <a:tc>
                  <a:txBody>
                    <a:bodyPr/>
                    <a:lstStyle/>
                    <a:p>
                      <a:pPr>
                        <a:defRPr sz="1200"/>
                      </a:pPr>
                      <a:r>
                        <a:t>Struggles with non-linear relationships</a:t>
                      </a:r>
                    </a:p>
                  </a:txBody>
                  <a:tcPr/>
                </a:tc>
                <a:tc>
                  <a:txBody>
                    <a:bodyPr/>
                    <a:lstStyle/>
                    <a:p>
                      <a:pPr>
                        <a:defRPr sz="1200"/>
                      </a:pPr>
                      <a:r>
                        <a:t>Baseline model</a:t>
                      </a:r>
                    </a:p>
                  </a:txBody>
                  <a:tcPr/>
                </a:tc>
                <a:extLst>
                  <a:ext uri="{0D108BD9-81ED-4DB2-BD59-A6C34878D82A}">
                    <a16:rowId xmlns:a16="http://schemas.microsoft.com/office/drawing/2014/main" val="10001"/>
                  </a:ext>
                </a:extLst>
              </a:tr>
              <a:tr h="400050">
                <a:tc>
                  <a:txBody>
                    <a:bodyPr/>
                    <a:lstStyle/>
                    <a:p>
                      <a:pPr>
                        <a:defRPr sz="1200"/>
                      </a:pPr>
                      <a:r>
                        <a:t>KNN</a:t>
                      </a:r>
                    </a:p>
                  </a:txBody>
                  <a:tcPr/>
                </a:tc>
                <a:tc>
                  <a:txBody>
                    <a:bodyPr/>
                    <a:lstStyle/>
                    <a:p>
                      <a:pPr>
                        <a:defRPr sz="1200"/>
                      </a:pPr>
                      <a:r>
                        <a:t>No strict mathematical assumptions</a:t>
                      </a:r>
                    </a:p>
                  </a:txBody>
                  <a:tcPr/>
                </a:tc>
                <a:tc>
                  <a:txBody>
                    <a:bodyPr/>
                    <a:lstStyle/>
                    <a:p>
                      <a:pPr>
                        <a:defRPr sz="1200"/>
                      </a:pPr>
                      <a:r>
                        <a:t>Computationally heavy at scale</a:t>
                      </a:r>
                    </a:p>
                  </a:txBody>
                  <a:tcPr/>
                </a:tc>
                <a:tc>
                  <a:txBody>
                    <a:bodyPr/>
                    <a:lstStyle/>
                    <a:p>
                      <a:pPr>
                        <a:defRPr sz="1200"/>
                      </a:pPr>
                      <a:r>
                        <a:t>Distance-based comparison</a:t>
                      </a:r>
                    </a:p>
                  </a:txBody>
                  <a:tcPr/>
                </a:tc>
                <a:extLst>
                  <a:ext uri="{0D108BD9-81ED-4DB2-BD59-A6C34878D82A}">
                    <a16:rowId xmlns:a16="http://schemas.microsoft.com/office/drawing/2014/main" val="10002"/>
                  </a:ext>
                </a:extLst>
              </a:tr>
              <a:tr h="400050">
                <a:tc>
                  <a:txBody>
                    <a:bodyPr/>
                    <a:lstStyle/>
                    <a:p>
                      <a:pPr>
                        <a:defRPr sz="1200"/>
                      </a:pPr>
                      <a:r>
                        <a:t>SVM</a:t>
                      </a:r>
                    </a:p>
                  </a:txBody>
                  <a:tcPr/>
                </a:tc>
                <a:tc>
                  <a:txBody>
                    <a:bodyPr/>
                    <a:lstStyle/>
                    <a:p>
                      <a:pPr>
                        <a:defRPr sz="1200"/>
                      </a:pPr>
                      <a:r>
                        <a:t>Effective in high-dimensional spaces</a:t>
                      </a:r>
                    </a:p>
                  </a:txBody>
                  <a:tcPr/>
                </a:tc>
                <a:tc>
                  <a:txBody>
                    <a:bodyPr/>
                    <a:lstStyle/>
                    <a:p>
                      <a:pPr>
                        <a:defRPr sz="1200"/>
                      </a:pPr>
                      <a:r>
                        <a:t>Complex hyperparameter tuning</a:t>
                      </a:r>
                    </a:p>
                  </a:txBody>
                  <a:tcPr/>
                </a:tc>
                <a:tc>
                  <a:txBody>
                    <a:bodyPr/>
                    <a:lstStyle/>
                    <a:p>
                      <a:pPr>
                        <a:defRPr sz="1200"/>
                      </a:pPr>
                      <a:r>
                        <a:t>Margin-based comparison</a:t>
                      </a:r>
                    </a:p>
                  </a:txBody>
                  <a:tcPr/>
                </a:tc>
                <a:extLst>
                  <a:ext uri="{0D108BD9-81ED-4DB2-BD59-A6C34878D82A}">
                    <a16:rowId xmlns:a16="http://schemas.microsoft.com/office/drawing/2014/main" val="10003"/>
                  </a:ext>
                </a:extLst>
              </a:tr>
              <a:tr h="400050">
                <a:tc>
                  <a:txBody>
                    <a:bodyPr/>
                    <a:lstStyle/>
                    <a:p>
                      <a:pPr>
                        <a:defRPr sz="1200"/>
                      </a:pPr>
                      <a:r>
                        <a:t>Decision Tree</a:t>
                      </a:r>
                    </a:p>
                  </a:txBody>
                  <a:tcPr/>
                </a:tc>
                <a:tc>
                  <a:txBody>
                    <a:bodyPr/>
                    <a:lstStyle/>
                    <a:p>
                      <a:pPr>
                        <a:defRPr sz="1200"/>
                      </a:pPr>
                      <a:r>
                        <a:t>Highly interpretable logic</a:t>
                      </a:r>
                    </a:p>
                  </a:txBody>
                  <a:tcPr/>
                </a:tc>
                <a:tc>
                  <a:txBody>
                    <a:bodyPr/>
                    <a:lstStyle/>
                    <a:p>
                      <a:pPr>
                        <a:defRPr sz="1200"/>
                      </a:pPr>
                      <a:r>
                        <a:t>Prone to overfitting</a:t>
                      </a:r>
                    </a:p>
                  </a:txBody>
                  <a:tcPr/>
                </a:tc>
                <a:tc>
                  <a:txBody>
                    <a:bodyPr/>
                    <a:lstStyle/>
                    <a:p>
                      <a:pPr>
                        <a:defRPr sz="1200"/>
                      </a:pPr>
                      <a:r>
                        <a:t>Baseline tree model</a:t>
                      </a:r>
                    </a:p>
                  </a:txBody>
                  <a:tcPr/>
                </a:tc>
                <a:extLst>
                  <a:ext uri="{0D108BD9-81ED-4DB2-BD59-A6C34878D82A}">
                    <a16:rowId xmlns:a16="http://schemas.microsoft.com/office/drawing/2014/main" val="10004"/>
                  </a:ext>
                </a:extLst>
              </a:tr>
              <a:tr h="400050">
                <a:tc>
                  <a:txBody>
                    <a:bodyPr/>
                    <a:lstStyle/>
                    <a:p>
                      <a:pPr>
                        <a:defRPr sz="1200"/>
                      </a:pPr>
                      <a:r>
                        <a:t>Random Forest</a:t>
                      </a:r>
                    </a:p>
                  </a:txBody>
                  <a:tcPr/>
                </a:tc>
                <a:tc>
                  <a:txBody>
                    <a:bodyPr/>
                    <a:lstStyle/>
                    <a:p>
                      <a:pPr>
                        <a:defRPr sz="1200"/>
                      </a:pPr>
                      <a:r>
                        <a:t>Robust ensemble, handles non-linearity</a:t>
                      </a:r>
                    </a:p>
                  </a:txBody>
                  <a:tcPr/>
                </a:tc>
                <a:tc>
                  <a:txBody>
                    <a:bodyPr/>
                    <a:lstStyle/>
                    <a:p>
                      <a:pPr>
                        <a:defRPr sz="1200"/>
                      </a:pPr>
                      <a:r>
                        <a:t>Less interpretable than single tree</a:t>
                      </a:r>
                    </a:p>
                  </a:txBody>
                  <a:tcPr/>
                </a:tc>
                <a:tc>
                  <a:txBody>
                    <a:bodyPr/>
                    <a:lstStyle/>
                    <a:p>
                      <a:pPr>
                        <a:defRPr sz="1200"/>
                      </a:pPr>
                      <a:r>
                        <a:t>Primary ensemble candidate</a:t>
                      </a:r>
                    </a:p>
                  </a:txBody>
                  <a:tcPr/>
                </a:tc>
                <a:extLst>
                  <a:ext uri="{0D108BD9-81ED-4DB2-BD59-A6C34878D82A}">
                    <a16:rowId xmlns:a16="http://schemas.microsoft.com/office/drawing/2014/main" val="10005"/>
                  </a:ext>
                </a:extLst>
              </a:tr>
              <a:tr h="400050">
                <a:tc>
                  <a:txBody>
                    <a:bodyPr/>
                    <a:lstStyle/>
                    <a:p>
                      <a:pPr>
                        <a:defRPr sz="1200"/>
                      </a:pPr>
                      <a:r>
                        <a:t>XGBoost</a:t>
                      </a:r>
                    </a:p>
                  </a:txBody>
                  <a:tcPr/>
                </a:tc>
                <a:tc>
                  <a:txBody>
                    <a:bodyPr/>
                    <a:lstStyle/>
                    <a:p>
                      <a:pPr>
                        <a:defRPr sz="1200"/>
                      </a:pPr>
                      <a:r>
                        <a:t>High accuracy and performance</a:t>
                      </a:r>
                    </a:p>
                  </a:txBody>
                  <a:tcPr/>
                </a:tc>
                <a:tc>
                  <a:txBody>
                    <a:bodyPr/>
                    <a:lstStyle/>
                    <a:p>
                      <a:pPr>
                        <a:defRPr sz="1200"/>
                      </a:pPr>
                      <a:r>
                        <a:t>Can overfit on small datasets</a:t>
                      </a:r>
                    </a:p>
                  </a:txBody>
                  <a:tcPr/>
                </a:tc>
                <a:tc>
                  <a:txBody>
                    <a:bodyPr/>
                    <a:lstStyle/>
                    <a:p>
                      <a:pPr>
                        <a:defRPr sz="1200"/>
                      </a:pPr>
                      <a:r>
                        <a:t>Advanced ensemble candidate</a:t>
                      </a:r>
                    </a:p>
                  </a:txBody>
                  <a:tcPr/>
                </a:tc>
                <a:extLst>
                  <a:ext uri="{0D108BD9-81ED-4DB2-BD59-A6C34878D82A}">
                    <a16:rowId xmlns:a16="http://schemas.microsoft.com/office/drawing/2014/main" val="10006"/>
                  </a:ext>
                </a:extLst>
              </a:tr>
              <a:tr h="400050">
                <a:tc>
                  <a:txBody>
                    <a:bodyPr/>
                    <a:lstStyle/>
                    <a:p>
                      <a:pPr>
                        <a:defRPr sz="1200"/>
                      </a:pPr>
                      <a:r>
                        <a:t>Isolation Forest</a:t>
                      </a:r>
                    </a:p>
                  </a:txBody>
                  <a:tcPr/>
                </a:tc>
                <a:tc>
                  <a:txBody>
                    <a:bodyPr/>
                    <a:lstStyle/>
                    <a:p>
                      <a:pPr>
                        <a:defRPr sz="1200"/>
                      </a:pPr>
                      <a:r>
                        <a:t>Excellent for novelty detection</a:t>
                      </a:r>
                    </a:p>
                  </a:txBody>
                  <a:tcPr/>
                </a:tc>
                <a:tc>
                  <a:txBody>
                    <a:bodyPr/>
                    <a:lstStyle/>
                    <a:p>
                      <a:pPr>
                        <a:defRPr sz="1200"/>
                      </a:pPr>
                      <a:r>
                        <a:t>Requires clean training baseline</a:t>
                      </a:r>
                    </a:p>
                  </a:txBody>
                  <a:tcPr/>
                </a:tc>
                <a:tc>
                  <a:txBody>
                    <a:bodyPr/>
                    <a:lstStyle/>
                    <a:p>
                      <a:pPr>
                        <a:defRPr sz="1200"/>
                      </a:pPr>
                      <a:r>
                        <a:t>Anomaly detection candidate</a:t>
                      </a:r>
                    </a:p>
                  </a:txBody>
                  <a:tcPr/>
                </a:tc>
                <a:extLst>
                  <a:ext uri="{0D108BD9-81ED-4DB2-BD59-A6C34878D82A}">
                    <a16:rowId xmlns:a16="http://schemas.microsoft.com/office/drawing/2014/main" val="10007"/>
                  </a:ext>
                </a:extLst>
              </a:tr>
            </a:tbl>
          </a:graphicData>
        </a:graphic>
      </p:graphicFrame>
      <p:sp>
        <p:nvSpPr>
          <p:cNvPr id="5" name="TextBox 4"/>
          <p:cNvSpPr txBox="1"/>
          <p:nvPr/>
        </p:nvSpPr>
        <p:spPr>
          <a:xfrm>
            <a:off x="457200" y="5029200"/>
            <a:ext cx="11274552" cy="1371600"/>
          </a:xfrm>
          <a:prstGeom prst="rect">
            <a:avLst/>
          </a:prstGeom>
          <a:noFill/>
        </p:spPr>
        <p:txBody>
          <a:bodyPr wrap="none">
            <a:spAutoFit/>
          </a:bodyPr>
          <a:lstStyle/>
          <a:p>
            <a:endParaRPr/>
          </a:p>
          <a:p>
            <a:pPr algn="ctr">
              <a:defRPr sz="1600" b="1">
                <a:solidFill>
                  <a:srgbClr val="111827"/>
                </a:solidFill>
              </a:defRPr>
            </a:pPr>
            <a:r>
              <a:t>Same feature set  →  Train / Validate  →  Compare metrics  →  Select suitable model</a:t>
            </a:r>
            <a:br/>
            <a:r>
              <a:t>*Model selection will be strictly based on experimental validation.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6400800"/>
            <a:ext cx="8229600" cy="457200"/>
          </a:xfrm>
          <a:prstGeom prst="rect">
            <a:avLst/>
          </a:prstGeom>
          <a:noFill/>
        </p:spPr>
        <p:txBody>
          <a:bodyPr wrap="none">
            <a:spAutoFit/>
          </a:bodyPr>
          <a:lstStyle/>
          <a:p>
            <a:endParaRPr/>
          </a:p>
          <a:p>
            <a:pPr>
              <a:defRPr sz="1000">
                <a:solidFill>
                  <a:srgbClr val="64748B"/>
                </a:solidFill>
              </a:defRPr>
            </a:pPr>
            <a:r>
              <a:t>BRIDGEGUARD ML | IDP Review II | Project ID: 202600749</a:t>
            </a:r>
          </a:p>
        </p:txBody>
      </p:sp>
      <p:sp>
        <p:nvSpPr>
          <p:cNvPr id="3" name="TextBox 2"/>
          <p:cNvSpPr txBox="1"/>
          <p:nvPr/>
        </p:nvSpPr>
        <p:spPr>
          <a:xfrm>
            <a:off x="457200" y="365760"/>
            <a:ext cx="11274552" cy="914400"/>
          </a:xfrm>
          <a:prstGeom prst="rect">
            <a:avLst/>
          </a:prstGeom>
          <a:noFill/>
        </p:spPr>
        <p:txBody>
          <a:bodyPr wrap="none">
            <a:spAutoFit/>
          </a:bodyPr>
          <a:lstStyle/>
          <a:p>
            <a:endParaRPr/>
          </a:p>
          <a:p>
            <a:pPr>
              <a:defRPr sz="3600" b="1">
                <a:solidFill>
                  <a:srgbClr val="111827"/>
                </a:solidFill>
              </a:defRPr>
            </a:pPr>
            <a:r>
              <a:t>INITIAL IMPLEMENTATION / PROTOTYPE</a:t>
            </a:r>
          </a:p>
        </p:txBody>
      </p:sp>
      <p:sp>
        <p:nvSpPr>
          <p:cNvPr id="4" name="TextBox 3"/>
          <p:cNvSpPr txBox="1"/>
          <p:nvPr/>
        </p:nvSpPr>
        <p:spPr>
          <a:xfrm>
            <a:off x="457200" y="1188720"/>
            <a:ext cx="5486400" cy="4572000"/>
          </a:xfrm>
          <a:prstGeom prst="rect">
            <a:avLst/>
          </a:prstGeom>
          <a:noFill/>
        </p:spPr>
        <p:txBody>
          <a:bodyPr wrap="none">
            <a:spAutoFit/>
          </a:bodyPr>
          <a:lstStyle/>
          <a:p>
            <a:endParaRPr dirty="0"/>
          </a:p>
          <a:p>
            <a:pPr>
              <a:defRPr sz="1800" b="1">
                <a:solidFill>
                  <a:srgbClr val="16A34A"/>
                </a:solidFill>
              </a:defRPr>
            </a:pPr>
            <a:r>
              <a:rPr dirty="0"/>
              <a:t>WORKING SOFTWARE PROTOTYPE</a:t>
            </a:r>
          </a:p>
          <a:p>
            <a:pPr>
              <a:defRPr sz="1400">
                <a:solidFill>
                  <a:srgbClr val="111827"/>
                </a:solidFill>
              </a:defRPr>
            </a:pPr>
            <a:r>
              <a:rPr dirty="0"/>
              <a:t>✓ Dashboard UI</a:t>
            </a:r>
          </a:p>
          <a:p>
            <a:pPr>
              <a:defRPr sz="1400">
                <a:solidFill>
                  <a:srgbClr val="111827"/>
                </a:solidFill>
              </a:defRPr>
            </a:pPr>
            <a:r>
              <a:rPr dirty="0"/>
              <a:t>✓ Sensor simulation</a:t>
            </a:r>
          </a:p>
          <a:p>
            <a:pPr>
              <a:defRPr sz="1400">
                <a:solidFill>
                  <a:srgbClr val="111827"/>
                </a:solidFill>
              </a:defRPr>
            </a:pPr>
            <a:r>
              <a:rPr dirty="0"/>
              <a:t>✓ Health visualization</a:t>
            </a:r>
          </a:p>
          <a:p>
            <a:pPr>
              <a:defRPr sz="1400">
                <a:solidFill>
                  <a:srgbClr val="111827"/>
                </a:solidFill>
              </a:defRPr>
            </a:pPr>
            <a:r>
              <a:rPr dirty="0"/>
              <a:t>✓ Condition indication</a:t>
            </a:r>
          </a:p>
          <a:p>
            <a:pPr>
              <a:defRPr sz="1400">
                <a:solidFill>
                  <a:srgbClr val="111827"/>
                </a:solidFill>
              </a:defRPr>
            </a:pPr>
            <a:r>
              <a:rPr dirty="0"/>
              <a:t>✓ Trend visualization</a:t>
            </a:r>
          </a:p>
          <a:p>
            <a:pPr>
              <a:defRPr sz="1400">
                <a:solidFill>
                  <a:srgbClr val="111827"/>
                </a:solidFill>
              </a:defRPr>
            </a:pPr>
            <a:r>
              <a:rPr dirty="0"/>
              <a:t>✓ System pipeline</a:t>
            </a:r>
          </a:p>
          <a:p>
            <a:pPr>
              <a:defRPr sz="1400">
                <a:solidFill>
                  <a:srgbClr val="111827"/>
                </a:solidFill>
              </a:defRPr>
            </a:pPr>
            <a:r>
              <a:rPr dirty="0"/>
              <a:t>✓ Dataset integration plan</a:t>
            </a:r>
          </a:p>
          <a:p>
            <a:br>
              <a:rPr dirty="0"/>
            </a:br>
            <a:r>
              <a:rPr dirty="0"/>
              <a:t>LIVE PROTOTYPE:</a:t>
            </a:r>
            <a:br>
              <a:rPr dirty="0"/>
            </a:br>
            <a:r>
              <a:rPr dirty="0"/>
              <a:t>https://bridgeguard-ai-alpha.vercel.app/</a:t>
            </a:r>
          </a:p>
          <a:p>
            <a:br>
              <a:rPr dirty="0"/>
            </a:br>
            <a:r>
              <a:rPr dirty="0"/>
              <a:t>CURRENT STAGE:</a:t>
            </a:r>
            <a:br>
              <a:rPr dirty="0"/>
            </a:br>
            <a:r>
              <a:rPr dirty="0"/>
              <a:t>Software prototype + simulation</a:t>
            </a:r>
          </a:p>
          <a:p>
            <a:br>
              <a:rPr dirty="0"/>
            </a:br>
            <a:r>
              <a:rPr dirty="0"/>
              <a:t>IN PROGRESS:</a:t>
            </a:r>
            <a:br>
              <a:rPr dirty="0"/>
            </a:br>
            <a:r>
              <a:rPr dirty="0"/>
              <a:t>→ Real dataset preprocessing</a:t>
            </a:r>
            <a:br>
              <a:rPr dirty="0"/>
            </a:br>
            <a:r>
              <a:rPr dirty="0"/>
              <a:t>→ Health-relative feature extraction</a:t>
            </a:r>
            <a:br>
              <a:rPr dirty="0"/>
            </a:br>
            <a:r>
              <a:rPr dirty="0"/>
              <a:t>→ ML comparison &amp; SHAP integration</a:t>
            </a:r>
            <a:br>
              <a:rPr dirty="0"/>
            </a:br>
            <a:r>
              <a:rPr dirty="0"/>
              <a:t>→ Hardware integration</a:t>
            </a:r>
          </a:p>
        </p:txBody>
      </p:sp>
      <p:pic>
        <p:nvPicPr>
          <p:cNvPr id="9" name="Picture 8">
            <a:extLst>
              <a:ext uri="{FF2B5EF4-FFF2-40B4-BE49-F238E27FC236}">
                <a16:creationId xmlns:a16="http://schemas.microsoft.com/office/drawing/2014/main" id="{5EDFECE5-173C-6064-FA2E-12ABFA5F733D}"/>
              </a:ext>
            </a:extLst>
          </p:cNvPr>
          <p:cNvPicPr>
            <a:picLocks noChangeAspect="1"/>
          </p:cNvPicPr>
          <p:nvPr/>
        </p:nvPicPr>
        <p:blipFill>
          <a:blip r:embed="rId3"/>
          <a:stretch>
            <a:fillRect/>
          </a:stretch>
        </p:blipFill>
        <p:spPr>
          <a:xfrm>
            <a:off x="5132489" y="1397448"/>
            <a:ext cx="5900523" cy="488606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6400800"/>
            <a:ext cx="8229600" cy="457200"/>
          </a:xfrm>
          <a:prstGeom prst="rect">
            <a:avLst/>
          </a:prstGeom>
          <a:noFill/>
        </p:spPr>
        <p:txBody>
          <a:bodyPr wrap="none">
            <a:spAutoFit/>
          </a:bodyPr>
          <a:lstStyle/>
          <a:p>
            <a:endParaRPr/>
          </a:p>
          <a:p>
            <a:pPr>
              <a:defRPr sz="1000">
                <a:solidFill>
                  <a:srgbClr val="64748B"/>
                </a:solidFill>
              </a:defRPr>
            </a:pPr>
            <a:r>
              <a:t>BRIDGEGUARD ML | IDP Review II | Project ID: 202600749</a:t>
            </a:r>
          </a:p>
        </p:txBody>
      </p:sp>
      <p:sp>
        <p:nvSpPr>
          <p:cNvPr id="3" name="TextBox 2"/>
          <p:cNvSpPr txBox="1"/>
          <p:nvPr/>
        </p:nvSpPr>
        <p:spPr>
          <a:xfrm>
            <a:off x="457200" y="365760"/>
            <a:ext cx="11274552" cy="914400"/>
          </a:xfrm>
          <a:prstGeom prst="rect">
            <a:avLst/>
          </a:prstGeom>
          <a:noFill/>
        </p:spPr>
        <p:txBody>
          <a:bodyPr wrap="none">
            <a:spAutoFit/>
          </a:bodyPr>
          <a:lstStyle/>
          <a:p>
            <a:endParaRPr/>
          </a:p>
          <a:p>
            <a:pPr>
              <a:defRPr sz="3600" b="1">
                <a:solidFill>
                  <a:srgbClr val="111827"/>
                </a:solidFill>
              </a:defRPr>
            </a:pPr>
            <a:r>
              <a:t>EXPECTED OUTPUT + FUTURE WORK</a:t>
            </a:r>
          </a:p>
        </p:txBody>
      </p:sp>
      <p:sp>
        <p:nvSpPr>
          <p:cNvPr id="4" name="TextBox 3"/>
          <p:cNvSpPr txBox="1"/>
          <p:nvPr/>
        </p:nvSpPr>
        <p:spPr>
          <a:xfrm>
            <a:off x="457200" y="1371600"/>
            <a:ext cx="5029200" cy="4572000"/>
          </a:xfrm>
          <a:prstGeom prst="rect">
            <a:avLst/>
          </a:prstGeom>
          <a:noFill/>
        </p:spPr>
        <p:txBody>
          <a:bodyPr wrap="none">
            <a:spAutoFit/>
          </a:bodyPr>
          <a:lstStyle/>
          <a:p>
            <a:endParaRPr/>
          </a:p>
          <a:p>
            <a:pPr>
              <a:defRPr sz="1800" b="1">
                <a:solidFill>
                  <a:srgbClr val="2563EB"/>
                </a:solidFill>
              </a:defRPr>
            </a:pPr>
            <a:r>
              <a:t>EXPECTED SYSTEM OUTPUT</a:t>
            </a:r>
          </a:p>
          <a:p>
            <a:pPr>
              <a:spcAft>
                <a:spcPts val="500"/>
              </a:spcAft>
              <a:defRPr sz="1600">
                <a:solidFill>
                  <a:srgbClr val="111827"/>
                </a:solidFill>
              </a:defRPr>
            </a:pPr>
            <a:r>
              <a:t>• Structural condition / anomaly indication</a:t>
            </a:r>
          </a:p>
          <a:p>
            <a:pPr>
              <a:spcAft>
                <a:spcPts val="500"/>
              </a:spcAft>
              <a:defRPr sz="1600">
                <a:solidFill>
                  <a:srgbClr val="111827"/>
                </a:solidFill>
              </a:defRPr>
            </a:pPr>
            <a:r>
              <a:t>• Health-related indicators</a:t>
            </a:r>
          </a:p>
          <a:p>
            <a:pPr>
              <a:spcAft>
                <a:spcPts val="500"/>
              </a:spcAft>
              <a:defRPr sz="1600">
                <a:solidFill>
                  <a:srgbClr val="111827"/>
                </a:solidFill>
              </a:defRPr>
            </a:pPr>
            <a:r>
              <a:t>• Feature trends</a:t>
            </a:r>
          </a:p>
          <a:p>
            <a:pPr>
              <a:spcAft>
                <a:spcPts val="500"/>
              </a:spcAft>
              <a:defRPr sz="1600">
                <a:solidFill>
                  <a:srgbClr val="111827"/>
                </a:solidFill>
              </a:defRPr>
            </a:pPr>
            <a:r>
              <a:t>• Model confidence / anomaly score (where supported)</a:t>
            </a:r>
          </a:p>
          <a:p>
            <a:pPr>
              <a:spcAft>
                <a:spcPts val="500"/>
              </a:spcAft>
              <a:defRPr sz="1600">
                <a:solidFill>
                  <a:srgbClr val="111827"/>
                </a:solidFill>
              </a:defRPr>
            </a:pPr>
            <a:r>
              <a:t>• SHAP feature contribution</a:t>
            </a:r>
          </a:p>
          <a:p>
            <a:pPr>
              <a:spcAft>
                <a:spcPts val="500"/>
              </a:spcAft>
              <a:defRPr sz="1600">
                <a:solidFill>
                  <a:srgbClr val="111827"/>
                </a:solidFill>
              </a:defRPr>
            </a:pPr>
            <a:r>
              <a:t>• Maintenance-oriented alert</a:t>
            </a:r>
          </a:p>
        </p:txBody>
      </p:sp>
      <p:sp>
        <p:nvSpPr>
          <p:cNvPr id="5" name="TextBox 4"/>
          <p:cNvSpPr txBox="1"/>
          <p:nvPr/>
        </p:nvSpPr>
        <p:spPr>
          <a:xfrm>
            <a:off x="5943600" y="1371600"/>
            <a:ext cx="5486400" cy="4572000"/>
          </a:xfrm>
          <a:prstGeom prst="rect">
            <a:avLst/>
          </a:prstGeom>
          <a:noFill/>
        </p:spPr>
        <p:txBody>
          <a:bodyPr wrap="none">
            <a:spAutoFit/>
          </a:bodyPr>
          <a:lstStyle/>
          <a:p>
            <a:endParaRPr/>
          </a:p>
          <a:p>
            <a:pPr>
              <a:defRPr sz="1800" b="1">
                <a:solidFill>
                  <a:srgbClr val="F59E0B"/>
                </a:solidFill>
              </a:defRPr>
            </a:pPr>
            <a:r>
              <a:t>FUTURE WORK</a:t>
            </a:r>
          </a:p>
          <a:p>
            <a:pPr>
              <a:spcAft>
                <a:spcPts val="200"/>
              </a:spcAft>
              <a:defRPr sz="1400">
                <a:solidFill>
                  <a:srgbClr val="111827"/>
                </a:solidFill>
              </a:defRPr>
            </a:pPr>
            <a:r>
              <a:t>1. Preprocess real SHM datasets.</a:t>
            </a:r>
          </a:p>
          <a:p>
            <a:pPr>
              <a:spcAft>
                <a:spcPts val="200"/>
              </a:spcAft>
              <a:defRPr sz="1400">
                <a:solidFill>
                  <a:srgbClr val="111827"/>
                </a:solidFill>
              </a:defRPr>
            </a:pPr>
            <a:r>
              <a:t>2. Implement health-relative feature extraction.</a:t>
            </a:r>
          </a:p>
          <a:p>
            <a:pPr>
              <a:spcAft>
                <a:spcPts val="200"/>
              </a:spcAft>
              <a:defRPr sz="1400">
                <a:solidFill>
                  <a:srgbClr val="111827"/>
                </a:solidFill>
              </a:defRPr>
            </a:pPr>
            <a:r>
              <a:t>3. Establish healthy baseline.</a:t>
            </a:r>
          </a:p>
          <a:p>
            <a:pPr>
              <a:spcAft>
                <a:spcPts val="200"/>
              </a:spcAft>
              <a:defRPr sz="1400">
                <a:solidFill>
                  <a:srgbClr val="111827"/>
                </a:solidFill>
              </a:defRPr>
            </a:pPr>
            <a:r>
              <a:t>4. Compare ML algorithms.</a:t>
            </a:r>
          </a:p>
          <a:p>
            <a:pPr>
              <a:spcAft>
                <a:spcPts val="200"/>
              </a:spcAft>
              <a:defRPr sz="1400">
                <a:solidFill>
                  <a:srgbClr val="111827"/>
                </a:solidFill>
              </a:defRPr>
            </a:pPr>
            <a:r>
              <a:t>5. Train and validate selected model.</a:t>
            </a:r>
          </a:p>
          <a:p>
            <a:pPr>
              <a:spcAft>
                <a:spcPts val="200"/>
              </a:spcAft>
              <a:defRPr sz="1400">
                <a:solidFill>
                  <a:srgbClr val="111827"/>
                </a:solidFill>
              </a:defRPr>
            </a:pPr>
            <a:r>
              <a:t>6. Evaluate cross-condition / cross-bridge robustness.</a:t>
            </a:r>
          </a:p>
          <a:p>
            <a:pPr>
              <a:spcAft>
                <a:spcPts val="200"/>
              </a:spcAft>
              <a:defRPr sz="1400">
                <a:solidFill>
                  <a:srgbClr val="111827"/>
                </a:solidFill>
              </a:defRPr>
            </a:pPr>
            <a:r>
              <a:t>7. Integrate SHAP.</a:t>
            </a:r>
          </a:p>
          <a:p>
            <a:pPr>
              <a:spcAft>
                <a:spcPts val="200"/>
              </a:spcAft>
              <a:defRPr sz="1400">
                <a:solidFill>
                  <a:srgbClr val="111827"/>
                </a:solidFill>
              </a:defRPr>
            </a:pPr>
            <a:r>
              <a:t>8. Integrate ESP32 + sensors.</a:t>
            </a:r>
          </a:p>
          <a:p>
            <a:pPr>
              <a:spcAft>
                <a:spcPts val="200"/>
              </a:spcAft>
              <a:defRPr sz="1400">
                <a:solidFill>
                  <a:srgbClr val="111827"/>
                </a:solidFill>
              </a:defRPr>
            </a:pPr>
            <a:r>
              <a:t>9. Connect live sensor data to dashboard.</a:t>
            </a:r>
          </a:p>
          <a:p>
            <a:pPr>
              <a:spcAft>
                <a:spcPts val="200"/>
              </a:spcAft>
              <a:defRPr sz="1400">
                <a:solidFill>
                  <a:srgbClr val="111827"/>
                </a:solidFill>
              </a:defRPr>
            </a:pPr>
            <a:r>
              <a:t>10. Validate using miniature bridge experiments.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6400800"/>
            <a:ext cx="8229600" cy="457200"/>
          </a:xfrm>
          <a:prstGeom prst="rect">
            <a:avLst/>
          </a:prstGeom>
          <a:noFill/>
        </p:spPr>
        <p:txBody>
          <a:bodyPr wrap="none">
            <a:spAutoFit/>
          </a:bodyPr>
          <a:lstStyle/>
          <a:p>
            <a:endParaRPr/>
          </a:p>
          <a:p>
            <a:pPr>
              <a:defRPr sz="1000">
                <a:solidFill>
                  <a:srgbClr val="64748B"/>
                </a:solidFill>
              </a:defRPr>
            </a:pPr>
            <a:r>
              <a:t>BRIDGEGUARD ML | IDP Review II | Project ID: 202600749</a:t>
            </a:r>
          </a:p>
        </p:txBody>
      </p:sp>
      <p:sp>
        <p:nvSpPr>
          <p:cNvPr id="3" name="TextBox 2"/>
          <p:cNvSpPr txBox="1"/>
          <p:nvPr/>
        </p:nvSpPr>
        <p:spPr>
          <a:xfrm>
            <a:off x="457200" y="365760"/>
            <a:ext cx="11274552" cy="914400"/>
          </a:xfrm>
          <a:prstGeom prst="rect">
            <a:avLst/>
          </a:prstGeom>
          <a:noFill/>
        </p:spPr>
        <p:txBody>
          <a:bodyPr wrap="none">
            <a:spAutoFit/>
          </a:bodyPr>
          <a:lstStyle/>
          <a:p>
            <a:endParaRPr/>
          </a:p>
          <a:p>
            <a:pPr>
              <a:defRPr sz="3600" b="1">
                <a:solidFill>
                  <a:srgbClr val="111827"/>
                </a:solidFill>
              </a:defRPr>
            </a:pPr>
            <a:r>
              <a:t>REFERENCES</a:t>
            </a:r>
          </a:p>
        </p:txBody>
      </p:sp>
      <p:sp>
        <p:nvSpPr>
          <p:cNvPr id="4" name="TextBox 3"/>
          <p:cNvSpPr txBox="1"/>
          <p:nvPr/>
        </p:nvSpPr>
        <p:spPr>
          <a:xfrm>
            <a:off x="457200" y="1188720"/>
            <a:ext cx="11274552" cy="5029200"/>
          </a:xfrm>
          <a:prstGeom prst="rect">
            <a:avLst/>
          </a:prstGeom>
          <a:noFill/>
        </p:spPr>
        <p:txBody>
          <a:bodyPr wrap="none">
            <a:spAutoFit/>
          </a:bodyPr>
          <a:lstStyle/>
          <a:p>
            <a:endParaRPr/>
          </a:p>
          <a:p>
            <a:pPr>
              <a:spcAft>
                <a:spcPts val="200"/>
              </a:spcAft>
              <a:defRPr sz="1100">
                <a:solidFill>
                  <a:srgbClr val="111827"/>
                </a:solidFill>
              </a:defRPr>
            </a:pPr>
            <a:r>
              <a:t>[1] Worden, K., &amp; Manson, G. (2007). The application of machine learning to structural health monitoring.</a:t>
            </a:r>
          </a:p>
          <a:p>
            <a:pPr>
              <a:spcAft>
                <a:spcPts val="200"/>
              </a:spcAft>
              <a:defRPr sz="1100">
                <a:solidFill>
                  <a:srgbClr val="111827"/>
                </a:solidFill>
              </a:defRPr>
            </a:pPr>
            <a:r>
              <a:t>[2] Farrar, C. R., &amp; Worden, K. (2012). Structural Health Monitoring: A Machine Learning Perspective.</a:t>
            </a:r>
          </a:p>
          <a:p>
            <a:pPr>
              <a:spcAft>
                <a:spcPts val="200"/>
              </a:spcAft>
              <a:defRPr sz="1100">
                <a:solidFill>
                  <a:srgbClr val="111827"/>
                </a:solidFill>
              </a:defRPr>
            </a:pPr>
            <a:r>
              <a:t>[3] Avci, O., et al. (2021). A review of vibration-based damage detection in civil structures...</a:t>
            </a:r>
          </a:p>
          <a:p>
            <a:pPr>
              <a:spcAft>
                <a:spcPts val="200"/>
              </a:spcAft>
              <a:defRPr sz="1100">
                <a:solidFill>
                  <a:srgbClr val="111827"/>
                </a:solidFill>
              </a:defRPr>
            </a:pPr>
            <a:r>
              <a:t>[4] Bao, Y., et al. (2019). Computer vision and machine learning for structural health monitoring.</a:t>
            </a:r>
          </a:p>
          <a:p>
            <a:pPr>
              <a:spcAft>
                <a:spcPts val="200"/>
              </a:spcAft>
              <a:defRPr sz="1100">
                <a:solidFill>
                  <a:srgbClr val="111827"/>
                </a:solidFill>
              </a:defRPr>
            </a:pPr>
            <a:r>
              <a:t>[5] Azimi, M., et al. (2020). Data-driven structural health monitoring and damage detection...</a:t>
            </a:r>
          </a:p>
          <a:p>
            <a:pPr>
              <a:spcAft>
                <a:spcPts val="200"/>
              </a:spcAft>
              <a:defRPr sz="1100">
                <a:solidFill>
                  <a:srgbClr val="111827"/>
                </a:solidFill>
              </a:defRPr>
            </a:pPr>
            <a:r>
              <a:t>[6] Entezami, A., et al. (2022). Structural health monitoring by a novel unsupervised machine learning method...</a:t>
            </a:r>
          </a:p>
          <a:p>
            <a:pPr>
              <a:spcAft>
                <a:spcPts val="200"/>
              </a:spcAft>
              <a:defRPr sz="1100">
                <a:solidFill>
                  <a:srgbClr val="111827"/>
                </a:solidFill>
              </a:defRPr>
            </a:pPr>
            <a:r>
              <a:t>[7] Neves, A. C., et al. (2017). Structural health monitoring of bridges: a model-free anomaly detection approach.</a:t>
            </a:r>
          </a:p>
          <a:p>
            <a:pPr>
              <a:spcAft>
                <a:spcPts val="200"/>
              </a:spcAft>
              <a:defRPr sz="1100">
                <a:solidFill>
                  <a:srgbClr val="111827"/>
                </a:solidFill>
              </a:defRPr>
            </a:pPr>
            <a:r>
              <a:t>[8] Malekzadeh, M., et al. (2015). Machine learning for structural health monitoring of bridges.</a:t>
            </a:r>
          </a:p>
          <a:p>
            <a:pPr>
              <a:spcAft>
                <a:spcPts val="200"/>
              </a:spcAft>
              <a:defRPr sz="1100">
                <a:solidFill>
                  <a:srgbClr val="111827"/>
                </a:solidFill>
              </a:defRPr>
            </a:pPr>
            <a:r>
              <a:t>[9] Sun, L., et al. (2020). A review of deep learning for structural health monitoring.</a:t>
            </a:r>
          </a:p>
          <a:p>
            <a:pPr>
              <a:spcAft>
                <a:spcPts val="200"/>
              </a:spcAft>
              <a:defRPr sz="1100">
                <a:solidFill>
                  <a:srgbClr val="111827"/>
                </a:solidFill>
              </a:defRPr>
            </a:pPr>
            <a:r>
              <a:t>[10] Figueiredo, E., et al. (2011). Machine learning algorithms for damage detection under operational variability.</a:t>
            </a:r>
          </a:p>
          <a:p>
            <a:pPr>
              <a:spcAft>
                <a:spcPts val="200"/>
              </a:spcAft>
              <a:defRPr sz="1100">
                <a:solidFill>
                  <a:srgbClr val="111827"/>
                </a:solidFill>
              </a:defRPr>
            </a:pPr>
            <a:r>
              <a:t>[11] Oh, B. K., et al. (2020). Explainable machine learning approach for structural health monitoring.</a:t>
            </a:r>
          </a:p>
          <a:p>
            <a:pPr>
              <a:spcAft>
                <a:spcPts val="200"/>
              </a:spcAft>
              <a:defRPr sz="1100">
                <a:solidFill>
                  <a:srgbClr val="111827"/>
                </a:solidFill>
              </a:defRPr>
            </a:pPr>
            <a:r>
              <a:t>[12] Toh, G., &amp; Park, J. (2020). Review of Machine Learning Applications in Bridge Health Monitoring.</a:t>
            </a:r>
          </a:p>
          <a:p>
            <a:pPr>
              <a:spcAft>
                <a:spcPts val="200"/>
              </a:spcAft>
              <a:defRPr sz="1100">
                <a:solidFill>
                  <a:srgbClr val="111827"/>
                </a:solidFill>
              </a:defRPr>
            </a:pPr>
            <a:r>
              <a:t>[13] Vamvoudakis-Stefanou, K., et al. (2023). Unsupervised damage detection for bridge populations.</a:t>
            </a:r>
          </a:p>
          <a:p>
            <a:pPr>
              <a:spcAft>
                <a:spcPts val="200"/>
              </a:spcAft>
              <a:defRPr sz="1100">
                <a:solidFill>
                  <a:srgbClr val="111827"/>
                </a:solidFill>
              </a:defRPr>
            </a:pPr>
            <a:r>
              <a:t>[14] Sony, S., et al. (2021). A review of next-generation smart sensing technology in SHM.</a:t>
            </a:r>
          </a:p>
          <a:p>
            <a:pPr>
              <a:spcAft>
                <a:spcPts val="200"/>
              </a:spcAft>
              <a:defRPr sz="1100">
                <a:solidFill>
                  <a:srgbClr val="111827"/>
                </a:solidFill>
              </a:defRPr>
            </a:pPr>
            <a:r>
              <a:t>[15] Huang, Y., et al. (2019). A machine learning approach to anomaly detection in bridge monitoring data.</a:t>
            </a:r>
          </a:p>
          <a:p>
            <a:pPr>
              <a:spcAft>
                <a:spcPts val="200"/>
              </a:spcAft>
              <a:defRPr sz="1100">
                <a:solidFill>
                  <a:srgbClr val="111827"/>
                </a:solidFill>
              </a:defRPr>
            </a:pPr>
            <a:r>
              <a:t>[Dataset] Vänersborg Bridge SHM Dataset, Sweden. Zenodo. DOI: 10.5281/zenodo.8300495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2575</Words>
  <Application>Microsoft Office PowerPoint</Application>
  <PresentationFormat>Widescreen</PresentationFormat>
  <Paragraphs>357</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avula tarun</cp:lastModifiedBy>
  <cp:revision>1</cp:revision>
  <dcterms:created xsi:type="dcterms:W3CDTF">2013-01-27T09:14:16Z</dcterms:created>
  <dcterms:modified xsi:type="dcterms:W3CDTF">2026-09-22T14:28:36Z</dcterms:modified>
  <cp:category/>
</cp:coreProperties>
</file>
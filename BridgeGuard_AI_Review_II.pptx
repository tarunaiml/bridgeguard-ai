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EFB42-89C4-4D05-88A2-146E18CCC017}" v="11" dt="2026-09-21T19:08:21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2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ula tarun" userId="971a0ab05f112b0a" providerId="LiveId" clId="{BA2F2C09-4EF8-403F-BFCC-AFEB6DB3976D}"/>
    <pc:docChg chg="undo custSel addSld modSld">
      <pc:chgData name="avula tarun" userId="971a0ab05f112b0a" providerId="LiveId" clId="{BA2F2C09-4EF8-403F-BFCC-AFEB6DB3976D}" dt="2026-09-22T14:28:19.870" v="362" actId="1076"/>
      <pc:docMkLst>
        <pc:docMk/>
      </pc:docMkLst>
      <pc:sldChg chg="addSp delSp modSp mod">
        <pc:chgData name="avula tarun" userId="971a0ab05f112b0a" providerId="LiveId" clId="{BA2F2C09-4EF8-403F-BFCC-AFEB6DB3976D}" dt="2026-09-22T08:21:12.123" v="347" actId="20577"/>
        <pc:sldMkLst>
          <pc:docMk/>
          <pc:sldMk cId="0" sldId="256"/>
        </pc:sldMkLst>
        <pc:spChg chg="add del mod">
          <ac:chgData name="avula tarun" userId="971a0ab05f112b0a" providerId="LiveId" clId="{BA2F2C09-4EF8-403F-BFCC-AFEB6DB3976D}" dt="2026-09-22T08:21:12.123" v="34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vula tarun" userId="971a0ab05f112b0a" providerId="LiveId" clId="{BA2F2C09-4EF8-403F-BFCC-AFEB6DB3976D}" dt="2026-09-21T19:08:49.703" v="337" actId="1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avula tarun" userId="971a0ab05f112b0a" providerId="LiveId" clId="{BA2F2C09-4EF8-403F-BFCC-AFEB6DB3976D}" dt="2026-09-21T19:05:50.914" v="307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vula tarun" userId="971a0ab05f112b0a" providerId="LiveId" clId="{BA2F2C09-4EF8-403F-BFCC-AFEB6DB3976D}" dt="2026-09-21T19:05:02.124" v="30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avula tarun" userId="971a0ab05f112b0a" providerId="LiveId" clId="{BA2F2C09-4EF8-403F-BFCC-AFEB6DB3976D}" dt="2026-09-21T19:06:06.555" v="311" actId="20577"/>
        <pc:sldMkLst>
          <pc:docMk/>
          <pc:sldMk cId="0" sldId="257"/>
        </pc:sldMkLst>
        <pc:spChg chg="mod">
          <ac:chgData name="avula tarun" userId="971a0ab05f112b0a" providerId="LiveId" clId="{BA2F2C09-4EF8-403F-BFCC-AFEB6DB3976D}" dt="2026-09-21T19:06:06.555" v="311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avula tarun" userId="971a0ab05f112b0a" providerId="LiveId" clId="{BA2F2C09-4EF8-403F-BFCC-AFEB6DB3976D}" dt="2026-09-21T19:06:11.454" v="313" actId="20577"/>
        <pc:sldMkLst>
          <pc:docMk/>
          <pc:sldMk cId="0" sldId="258"/>
        </pc:sldMkLst>
        <pc:spChg chg="mod">
          <ac:chgData name="avula tarun" userId="971a0ab05f112b0a" providerId="LiveId" clId="{BA2F2C09-4EF8-403F-BFCC-AFEB6DB3976D}" dt="2026-09-21T19:06:11.454" v="313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avula tarun" userId="971a0ab05f112b0a" providerId="LiveId" clId="{BA2F2C09-4EF8-403F-BFCC-AFEB6DB3976D}" dt="2026-09-21T18:41:19.677" v="1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avula tarun" userId="971a0ab05f112b0a" providerId="LiveId" clId="{BA2F2C09-4EF8-403F-BFCC-AFEB6DB3976D}" dt="2026-09-21T18:41:27.711" v="2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vula tarun" userId="971a0ab05f112b0a" providerId="LiveId" clId="{BA2F2C09-4EF8-403F-BFCC-AFEB6DB3976D}" dt="2026-09-21T19:02:58.978" v="251" actId="255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avula tarun" userId="971a0ab05f112b0a" providerId="LiveId" clId="{BA2F2C09-4EF8-403F-BFCC-AFEB6DB3976D}" dt="2026-09-21T19:06:15.279" v="315" actId="20577"/>
        <pc:sldMkLst>
          <pc:docMk/>
          <pc:sldMk cId="0" sldId="259"/>
        </pc:sldMkLst>
        <pc:spChg chg="mod">
          <ac:chgData name="avula tarun" userId="971a0ab05f112b0a" providerId="LiveId" clId="{BA2F2C09-4EF8-403F-BFCC-AFEB6DB3976D}" dt="2026-09-21T19:06:15.279" v="315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avula tarun" userId="971a0ab05f112b0a" providerId="LiveId" clId="{BA2F2C09-4EF8-403F-BFCC-AFEB6DB3976D}" dt="2026-09-21T19:06:18.881" v="317" actId="20577"/>
        <pc:sldMkLst>
          <pc:docMk/>
          <pc:sldMk cId="0" sldId="260"/>
        </pc:sldMkLst>
        <pc:spChg chg="mod">
          <ac:chgData name="avula tarun" userId="971a0ab05f112b0a" providerId="LiveId" clId="{BA2F2C09-4EF8-403F-BFCC-AFEB6DB3976D}" dt="2026-09-21T19:06:18.881" v="317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vula tarun" userId="971a0ab05f112b0a" providerId="LiveId" clId="{BA2F2C09-4EF8-403F-BFCC-AFEB6DB3976D}" dt="2026-09-21T18:42:33.205" v="16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avula tarun" userId="971a0ab05f112b0a" providerId="LiveId" clId="{BA2F2C09-4EF8-403F-BFCC-AFEB6DB3976D}" dt="2026-09-21T18:41:44.404" v="3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avula tarun" userId="971a0ab05f112b0a" providerId="LiveId" clId="{BA2F2C09-4EF8-403F-BFCC-AFEB6DB3976D}" dt="2026-09-21T19:03:37.643" v="258" actId="20577"/>
          <ac:spMkLst>
            <pc:docMk/>
            <pc:sldMk cId="0" sldId="260"/>
            <ac:spMk id="5" creationId="{00000000-0000-0000-0000-000000000000}"/>
          </ac:spMkLst>
        </pc:spChg>
      </pc:sldChg>
      <pc:sldChg chg="delSp modSp mod">
        <pc:chgData name="avula tarun" userId="971a0ab05f112b0a" providerId="LiveId" clId="{BA2F2C09-4EF8-403F-BFCC-AFEB6DB3976D}" dt="2026-09-22T13:38:06.414" v="360" actId="20577"/>
        <pc:sldMkLst>
          <pc:docMk/>
          <pc:sldMk cId="0" sldId="261"/>
        </pc:sldMkLst>
        <pc:spChg chg="mod">
          <ac:chgData name="avula tarun" userId="971a0ab05f112b0a" providerId="LiveId" clId="{BA2F2C09-4EF8-403F-BFCC-AFEB6DB3976D}" dt="2026-09-21T19:06:24.204" v="319" actId="20577"/>
          <ac:spMkLst>
            <pc:docMk/>
            <pc:sldMk cId="0" sldId="261"/>
            <ac:spMk id="2" creationId="{00000000-0000-0000-0000-000000000000}"/>
          </ac:spMkLst>
        </pc:spChg>
        <pc:spChg chg="del">
          <ac:chgData name="avula tarun" userId="971a0ab05f112b0a" providerId="LiveId" clId="{BA2F2C09-4EF8-403F-BFCC-AFEB6DB3976D}" dt="2026-09-22T13:36:17.773" v="353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avula tarun" userId="971a0ab05f112b0a" providerId="LiveId" clId="{BA2F2C09-4EF8-403F-BFCC-AFEB6DB3976D}" dt="2026-09-22T13:38:00.763" v="356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avula tarun" userId="971a0ab05f112b0a" providerId="LiveId" clId="{BA2F2C09-4EF8-403F-BFCC-AFEB6DB3976D}" dt="2026-09-22T13:38:04.018" v="358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avula tarun" userId="971a0ab05f112b0a" providerId="LiveId" clId="{BA2F2C09-4EF8-403F-BFCC-AFEB6DB3976D}" dt="2026-09-22T13:38:06.414" v="360" actId="20577"/>
          <ac:spMkLst>
            <pc:docMk/>
            <pc:sldMk cId="0" sldId="261"/>
            <ac:spMk id="7" creationId="{00000000-0000-0000-0000-000000000000}"/>
          </ac:spMkLst>
        </pc:spChg>
        <pc:spChg chg="del">
          <ac:chgData name="avula tarun" userId="971a0ab05f112b0a" providerId="LiveId" clId="{BA2F2C09-4EF8-403F-BFCC-AFEB6DB3976D}" dt="2026-09-22T13:37:05.457" v="354" actId="478"/>
          <ac:spMkLst>
            <pc:docMk/>
            <pc:sldMk cId="0" sldId="261"/>
            <ac:spMk id="8" creationId="{00000000-0000-0000-0000-000000000000}"/>
          </ac:spMkLst>
        </pc:spChg>
      </pc:sldChg>
      <pc:sldChg chg="delSp modSp mod">
        <pc:chgData name="avula tarun" userId="971a0ab05f112b0a" providerId="LiveId" clId="{BA2F2C09-4EF8-403F-BFCC-AFEB6DB3976D}" dt="2026-09-22T13:35:42.316" v="352" actId="478"/>
        <pc:sldMkLst>
          <pc:docMk/>
          <pc:sldMk cId="0" sldId="262"/>
        </pc:sldMkLst>
        <pc:spChg chg="mod">
          <ac:chgData name="avula tarun" userId="971a0ab05f112b0a" providerId="LiveId" clId="{BA2F2C09-4EF8-403F-BFCC-AFEB6DB3976D}" dt="2026-09-21T19:06:55.604" v="325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avula tarun" userId="971a0ab05f112b0a" providerId="LiveId" clId="{BA2F2C09-4EF8-403F-BFCC-AFEB6DB3976D}" dt="2026-09-21T18:43:38.720" v="27" actId="1076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avula tarun" userId="971a0ab05f112b0a" providerId="LiveId" clId="{BA2F2C09-4EF8-403F-BFCC-AFEB6DB3976D}" dt="2026-09-22T13:35:29.766" v="350" actId="478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avula tarun" userId="971a0ab05f112b0a" providerId="LiveId" clId="{BA2F2C09-4EF8-403F-BFCC-AFEB6DB3976D}" dt="2026-09-22T13:35:42.316" v="352" actId="478"/>
          <ac:spMkLst>
            <pc:docMk/>
            <pc:sldMk cId="0" sldId="262"/>
            <ac:spMk id="6" creationId="{00000000-0000-0000-0000-000000000000}"/>
          </ac:spMkLst>
        </pc:spChg>
      </pc:sldChg>
      <pc:sldChg chg="addSp delSp modSp mod">
        <pc:chgData name="avula tarun" userId="971a0ab05f112b0a" providerId="LiveId" clId="{BA2F2C09-4EF8-403F-BFCC-AFEB6DB3976D}" dt="2026-09-21T19:07:00.746" v="327" actId="20577"/>
        <pc:sldMkLst>
          <pc:docMk/>
          <pc:sldMk cId="0" sldId="263"/>
        </pc:sldMkLst>
        <pc:spChg chg="mod">
          <ac:chgData name="avula tarun" userId="971a0ab05f112b0a" providerId="LiveId" clId="{BA2F2C09-4EF8-403F-BFCC-AFEB6DB3976D}" dt="2026-09-21T19:07:00.746" v="327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vula tarun" userId="971a0ab05f112b0a" providerId="LiveId" clId="{BA2F2C09-4EF8-403F-BFCC-AFEB6DB3976D}" dt="2026-09-21T18:49:13.612" v="52" actId="20577"/>
          <ac:spMkLst>
            <pc:docMk/>
            <pc:sldMk cId="0" sldId="263"/>
            <ac:spMk id="7" creationId="{00000000-0000-0000-0000-000000000000}"/>
          </ac:spMkLst>
        </pc:spChg>
        <pc:spChg chg="del">
          <ac:chgData name="avula tarun" userId="971a0ab05f112b0a" providerId="LiveId" clId="{BA2F2C09-4EF8-403F-BFCC-AFEB6DB3976D}" dt="2026-09-21T18:44:00.410" v="28" actId="478"/>
          <ac:spMkLst>
            <pc:docMk/>
            <pc:sldMk cId="0" sldId="263"/>
            <ac:spMk id="8" creationId="{00000000-0000-0000-0000-000000000000}"/>
          </ac:spMkLst>
        </pc:spChg>
        <pc:picChg chg="add del mod">
          <ac:chgData name="avula tarun" userId="971a0ab05f112b0a" providerId="LiveId" clId="{BA2F2C09-4EF8-403F-BFCC-AFEB6DB3976D}" dt="2026-09-21T18:47:05.999" v="43" actId="478"/>
          <ac:picMkLst>
            <pc:docMk/>
            <pc:sldMk cId="0" sldId="263"/>
            <ac:picMk id="10" creationId="{0C9B5389-0A9E-3243-D664-D08984E827BC}"/>
          </ac:picMkLst>
        </pc:picChg>
      </pc:sldChg>
      <pc:sldChg chg="addSp delSp modSp add mod">
        <pc:chgData name="avula tarun" userId="971a0ab05f112b0a" providerId="LiveId" clId="{BA2F2C09-4EF8-403F-BFCC-AFEB6DB3976D}" dt="2026-09-22T14:28:19.870" v="362" actId="1076"/>
        <pc:sldMkLst>
          <pc:docMk/>
          <pc:sldMk cId="1354793514" sldId="264"/>
        </pc:sldMkLst>
        <pc:spChg chg="mod">
          <ac:chgData name="avula tarun" userId="971a0ab05f112b0a" providerId="LiveId" clId="{BA2F2C09-4EF8-403F-BFCC-AFEB6DB3976D}" dt="2026-09-22T14:28:19.870" v="362" actId="1076"/>
          <ac:spMkLst>
            <pc:docMk/>
            <pc:sldMk cId="1354793514" sldId="264"/>
            <ac:spMk id="2" creationId="{BF3367C8-7100-82A8-A616-FF176A6DE676}"/>
          </ac:spMkLst>
        </pc:spChg>
        <pc:spChg chg="mod">
          <ac:chgData name="avula tarun" userId="971a0ab05f112b0a" providerId="LiveId" clId="{BA2F2C09-4EF8-403F-BFCC-AFEB6DB3976D}" dt="2026-09-22T14:28:19.870" v="362" actId="1076"/>
          <ac:spMkLst>
            <pc:docMk/>
            <pc:sldMk cId="1354793514" sldId="264"/>
            <ac:spMk id="3" creationId="{34D49CA1-FFFA-D2D4-2483-7C9A2736241D}"/>
          </ac:spMkLst>
        </pc:spChg>
        <pc:spChg chg="mod">
          <ac:chgData name="avula tarun" userId="971a0ab05f112b0a" providerId="LiveId" clId="{BA2F2C09-4EF8-403F-BFCC-AFEB6DB3976D}" dt="2026-09-22T14:28:19.870" v="362" actId="1076"/>
          <ac:spMkLst>
            <pc:docMk/>
            <pc:sldMk cId="1354793514" sldId="264"/>
            <ac:spMk id="4" creationId="{6028F876-721E-8B2A-0712-AFE474FA0A2D}"/>
          </ac:spMkLst>
        </pc:spChg>
        <pc:spChg chg="del mod">
          <ac:chgData name="avula tarun" userId="971a0ab05f112b0a" providerId="LiveId" clId="{BA2F2C09-4EF8-403F-BFCC-AFEB6DB3976D}" dt="2026-09-21T18:46:32.469" v="37" actId="478"/>
          <ac:spMkLst>
            <pc:docMk/>
            <pc:sldMk cId="1354793514" sldId="264"/>
            <ac:spMk id="5" creationId="{1C5A090C-2B8A-EAA2-8158-031C7570DB74}"/>
          </ac:spMkLst>
        </pc:spChg>
        <pc:spChg chg="del">
          <ac:chgData name="avula tarun" userId="971a0ab05f112b0a" providerId="LiveId" clId="{BA2F2C09-4EF8-403F-BFCC-AFEB6DB3976D}" dt="2026-09-21T18:46:31.044" v="36" actId="478"/>
          <ac:spMkLst>
            <pc:docMk/>
            <pc:sldMk cId="1354793514" sldId="264"/>
            <ac:spMk id="6" creationId="{6DB37659-BF06-09C0-EF0B-EAA47F8D32D8}"/>
          </ac:spMkLst>
        </pc:spChg>
        <pc:spChg chg="add del mod">
          <ac:chgData name="avula tarun" userId="971a0ab05f112b0a" providerId="LiveId" clId="{BA2F2C09-4EF8-403F-BFCC-AFEB6DB3976D}" dt="2026-09-22T14:28:19.870" v="362" actId="1076"/>
          <ac:spMkLst>
            <pc:docMk/>
            <pc:sldMk cId="1354793514" sldId="264"/>
            <ac:spMk id="7" creationId="{417E358A-86F4-DCDF-725B-685482A3B934}"/>
          </ac:spMkLst>
        </pc:spChg>
        <pc:spChg chg="add mod">
          <ac:chgData name="avula tarun" userId="971a0ab05f112b0a" providerId="LiveId" clId="{BA2F2C09-4EF8-403F-BFCC-AFEB6DB3976D}" dt="2026-09-22T14:28:19.870" v="362" actId="1076"/>
          <ac:spMkLst>
            <pc:docMk/>
            <pc:sldMk cId="1354793514" sldId="264"/>
            <ac:spMk id="9" creationId="{9B3D3E59-5C49-596E-BE74-E37B80DA15A4}"/>
          </ac:spMkLst>
        </pc:spChg>
        <pc:spChg chg="add mod">
          <ac:chgData name="avula tarun" userId="971a0ab05f112b0a" providerId="LiveId" clId="{BA2F2C09-4EF8-403F-BFCC-AFEB6DB3976D}" dt="2026-09-22T14:28:19.870" v="362" actId="1076"/>
          <ac:spMkLst>
            <pc:docMk/>
            <pc:sldMk cId="1354793514" sldId="264"/>
            <ac:spMk id="12" creationId="{F84F1A3E-B008-A66C-C8A5-E9D415239307}"/>
          </ac:spMkLst>
        </pc:spChg>
        <pc:spChg chg="add del mod">
          <ac:chgData name="avula tarun" userId="971a0ab05f112b0a" providerId="LiveId" clId="{BA2F2C09-4EF8-403F-BFCC-AFEB6DB3976D}" dt="2026-09-21T18:57:13.521" v="142"/>
          <ac:spMkLst>
            <pc:docMk/>
            <pc:sldMk cId="1354793514" sldId="264"/>
            <ac:spMk id="13" creationId="{7B0DB943-E7FF-76A0-4B27-C31AE52C0097}"/>
          </ac:spMkLst>
        </pc:spChg>
        <pc:picChg chg="mod">
          <ac:chgData name="avula tarun" userId="971a0ab05f112b0a" providerId="LiveId" clId="{BA2F2C09-4EF8-403F-BFCC-AFEB6DB3976D}" dt="2026-09-22T14:28:19.870" v="362" actId="1076"/>
          <ac:picMkLst>
            <pc:docMk/>
            <pc:sldMk cId="1354793514" sldId="264"/>
            <ac:picMk id="10" creationId="{0C05CFC2-169A-0BD6-1F04-C9B40A6116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ridgeguard-ai-alpha.vercel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552760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5400" b="1">
                <a:solidFill>
                  <a:srgbClr val="111827"/>
                </a:solidFill>
              </a:defRPr>
            </a:pPr>
            <a:r>
              <a:rPr dirty="0"/>
              <a:t>BRIDGEGUARD </a:t>
            </a:r>
            <a:r>
              <a:rPr lang="en-IN" dirty="0"/>
              <a:t>ML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697976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>
                <a:solidFill>
                  <a:srgbClr val="2563EB"/>
                </a:solidFill>
              </a:defRPr>
            </a:pPr>
            <a:r>
              <a:rPr lang="en-US" dirty="0"/>
              <a:t>Structural Health Monitoring of Bridges using </a:t>
            </a:r>
            <a:r>
              <a:rPr dirty="0"/>
              <a:t>ML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266515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INNOVATIVE DESIGN PROJECT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REVIEW II — AY 2026–2027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Project ID: 20260074</a:t>
            </a:r>
            <a:r>
              <a:rPr lang="en-IN" dirty="0"/>
              <a:t>8</a:t>
            </a:r>
            <a:endParaRPr dirty="0"/>
          </a:p>
          <a:p>
            <a:pPr>
              <a:defRPr sz="1600">
                <a:solidFill>
                  <a:srgbClr val="111827"/>
                </a:solidFill>
              </a:defRPr>
            </a:pPr>
            <a:endParaRPr dirty="0"/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Institution: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474720"/>
            <a:ext cx="2551019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Team:</a:t>
            </a:r>
            <a:br>
              <a:rPr lang="en-IN" dirty="0"/>
            </a:br>
            <a:r>
              <a:rPr lang="en-IN" dirty="0"/>
              <a:t>N Anudeep — 25BAI1139</a:t>
            </a:r>
            <a:endParaRPr dirty="0"/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Avula Tarun — 25BAI1241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Ayush Sharma — 25BAI1392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endParaRPr dirty="0"/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Guide: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Padma J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Employee ID: 53408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BRIDGEGUARD AI | IDP Review II | Project ID: 20260074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111827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800"/>
              </a:spcAft>
              <a:defRPr sz="2200">
                <a:solidFill>
                  <a:srgbClr val="2563EB"/>
                </a:solidFill>
              </a:defRPr>
            </a:pPr>
            <a:r>
              <a:t>01 — Introduction</a:t>
            </a:r>
          </a:p>
          <a:p>
            <a:pPr>
              <a:spcAft>
                <a:spcPts val="1800"/>
              </a:spcAft>
              <a:defRPr sz="2200">
                <a:solidFill>
                  <a:srgbClr val="2563EB"/>
                </a:solidFill>
              </a:defRPr>
            </a:pPr>
            <a:r>
              <a:t>02 — Literature Survey</a:t>
            </a:r>
          </a:p>
          <a:p>
            <a:pPr>
              <a:spcAft>
                <a:spcPts val="1800"/>
              </a:spcAft>
              <a:defRPr sz="2200">
                <a:solidFill>
                  <a:srgbClr val="2563EB"/>
                </a:solidFill>
              </a:defRPr>
            </a:pPr>
            <a:r>
              <a:t>03 — Challenges &amp; Research Gap</a:t>
            </a:r>
          </a:p>
          <a:p>
            <a:pPr>
              <a:spcAft>
                <a:spcPts val="1800"/>
              </a:spcAft>
              <a:defRPr sz="2200">
                <a:solidFill>
                  <a:srgbClr val="2563EB"/>
                </a:solidFill>
              </a:defRPr>
            </a:pPr>
            <a:r>
              <a:t>04 — Project Objectives</a:t>
            </a:r>
          </a:p>
          <a:p>
            <a:pPr>
              <a:spcAft>
                <a:spcPts val="1800"/>
              </a:spcAft>
              <a:defRPr sz="2200">
                <a:solidFill>
                  <a:srgbClr val="2563EB"/>
                </a:solidFill>
              </a:defRPr>
            </a:pPr>
            <a:r>
              <a:t>05 — Methodology &amp; System Architecture</a:t>
            </a:r>
          </a:p>
          <a:p>
            <a:pPr>
              <a:spcAft>
                <a:spcPts val="1800"/>
              </a:spcAft>
              <a:defRPr sz="2200">
                <a:solidFill>
                  <a:srgbClr val="2563EB"/>
                </a:solidFill>
              </a:defRPr>
            </a:pPr>
            <a:r>
              <a:t>06 — Initial Implementation</a:t>
            </a:r>
          </a:p>
          <a:p>
            <a:pPr>
              <a:spcAft>
                <a:spcPts val="1800"/>
              </a:spcAft>
              <a:defRPr sz="2200">
                <a:solidFill>
                  <a:srgbClr val="2563EB"/>
                </a:solidFill>
              </a:defRPr>
            </a:pPr>
            <a:r>
              <a:t>07 — Current Progress</a:t>
            </a:r>
          </a:p>
          <a:p>
            <a:pPr>
              <a:spcAft>
                <a:spcPts val="1800"/>
              </a:spcAft>
              <a:defRPr sz="2200">
                <a:solidFill>
                  <a:srgbClr val="2563EB"/>
                </a:solidFill>
              </a:defRPr>
            </a:pPr>
            <a:r>
              <a:t>08 — Future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BRIDGEGUARD AI | IDP Review II | Project ID: 20260074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111827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2563EB"/>
                </a:solidFill>
              </a:defRPr>
            </a:pPr>
            <a:r>
              <a:t>Why Bridge Structural Health Monitoring?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• Bridges are continuously exposed to traffic loads and environmental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• Structural behaviour can change due to ageing, vibration, loading and deterioration.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• Conventional inspection is generally periodic and may not continuously capture changes in structural response.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• IoT-based sensing can provide continuous measurements.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• Machine learning can help identify abnormal structural behaviour from sensor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2007" y="646738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BRIDGE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  ↓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SENSORS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  ↓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DATA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  ↓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ANALYSIS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  ↓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HEALTH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93260"/>
            <a:ext cx="105791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>
                <a:solidFill>
                  <a:srgbClr val="111827"/>
                </a:solidFill>
              </a:defRPr>
            </a:pPr>
            <a:r>
              <a:rPr sz="2000" dirty="0">
                <a:solidFill>
                  <a:srgbClr val="0923A3"/>
                </a:solidFill>
              </a:rPr>
              <a:t>PROJECT IDEA</a:t>
            </a:r>
            <a:br>
              <a:rPr dirty="0"/>
            </a:br>
            <a:r>
              <a:rPr dirty="0" err="1"/>
              <a:t>BridgeGuard</a:t>
            </a:r>
            <a:r>
              <a:rPr dirty="0"/>
              <a:t> AI aims to combine IoT sensing, signal feature extraction and machine learning to monitor </a:t>
            </a:r>
            <a:br>
              <a:rPr lang="en-IN" dirty="0"/>
            </a:br>
            <a:r>
              <a:rPr dirty="0"/>
              <a:t>bridge </a:t>
            </a:r>
            <a:r>
              <a:rPr dirty="0" err="1"/>
              <a:t>behaviour</a:t>
            </a:r>
            <a:r>
              <a:rPr dirty="0"/>
              <a:t> and identify abnormal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BRIDGEGUARD AI | IDP Review II | Project ID: 20260074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111827"/>
                </a:solidFill>
              </a:defRPr>
            </a:pPr>
            <a: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3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3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Study / 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takeaway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Entezami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Structural health monitoring and damage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ML/data-driven approaches can support structural damage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Soltani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Bridge structural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Sensor-based monitoring can capture structural response.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Chakali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Structural monitoring /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Data-driven approaches can support SHM.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Railway Bridge IoT Digital Twin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IoT + bridge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IoT enables continuous monitoring and digital representation.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Physics-Informed ML Review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Machine learning for 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ML is increasingly combined with engineering knowledge.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t>OUR DIRECTION</a:t>
            </a:r>
          </a:p>
          <a:p>
            <a:pPr algn="ctr">
              <a:defRPr sz="1800" b="1">
                <a:solidFill>
                  <a:srgbClr val="111827"/>
                </a:solidFill>
              </a:defRPr>
            </a:pPr>
            <a:r>
              <a:t>IoT Sensing  +  Feature Extraction  +  Machine Learning  +  Abnormal Behaviour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BRIDGEGUARD AI | IDP Review II | Project ID: 20260074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111827"/>
                </a:solidFill>
              </a:defRPr>
            </a:pPr>
            <a:r>
              <a:t>CHALLENGES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862" y="1495887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 b="1">
                <a:solidFill>
                  <a:srgbClr val="2563EB"/>
                </a:solidFill>
              </a:defRPr>
            </a:pPr>
            <a:r>
              <a:t>CHALLENGES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• Real bridge sensor data is difficult to collect at student-project scale.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• Sensor signals can contain noise.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• Environmental conditions affect measurements.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• Raw vibration signals are difficult to interpret directly.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• Different structural conditions can produce different responses.</a:t>
            </a:r>
          </a:p>
          <a:p>
            <a:pPr>
              <a:spcAft>
                <a:spcPts val="1000"/>
              </a:spcAft>
              <a:defRPr sz="1600">
                <a:solidFill>
                  <a:srgbClr val="111827"/>
                </a:solidFill>
              </a:defRPr>
            </a:pPr>
            <a:r>
              <a:t>• Physical hardware integration is still under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3116" y="1490778"/>
            <a:ext cx="5039008" cy="40882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400" b="1">
                <a:solidFill>
                  <a:srgbClr val="2563EB"/>
                </a:solidFill>
              </a:defRPr>
            </a:pPr>
            <a:r>
              <a:rPr dirty="0"/>
              <a:t>RESEARCH GAP</a:t>
            </a:r>
          </a:p>
          <a:p>
            <a:pPr>
              <a:spcAft>
                <a:spcPts val="2400"/>
              </a:spcAft>
              <a:defRPr sz="1800">
                <a:solidFill>
                  <a:srgbClr val="111827"/>
                </a:solidFill>
              </a:defRPr>
            </a:pPr>
            <a:r>
              <a:rPr dirty="0"/>
              <a:t>Scope for a low-cost academic prototype combining</a:t>
            </a:r>
            <a:endParaRPr lang="en-IN" dirty="0"/>
          </a:p>
          <a:p>
            <a:pPr>
              <a:spcAft>
                <a:spcPts val="2400"/>
              </a:spcAft>
              <a:defRPr sz="1800">
                <a:solidFill>
                  <a:srgbClr val="111827"/>
                </a:solidFill>
              </a:defRPr>
            </a:pPr>
            <a:r>
              <a:rPr dirty="0"/>
              <a:t>IoT sensing, feature extraction and ML-based</a:t>
            </a:r>
            <a:br>
              <a:rPr lang="en-IN" dirty="0"/>
            </a:br>
            <a:r>
              <a:rPr dirty="0"/>
              <a:t> abnormal-</a:t>
            </a:r>
            <a:r>
              <a:rPr dirty="0" err="1"/>
              <a:t>behaviour</a:t>
            </a:r>
            <a:r>
              <a:rPr dirty="0"/>
              <a:t> detection.</a:t>
            </a:r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EXISTING APPROACHES</a:t>
            </a:r>
            <a:br>
              <a:rPr dirty="0"/>
            </a:br>
            <a:r>
              <a:rPr dirty="0"/>
              <a:t>        ↓</a:t>
            </a:r>
            <a:br>
              <a:rPr dirty="0"/>
            </a:br>
            <a:r>
              <a:rPr dirty="0"/>
              <a:t>Monitoring / Sensing / ML</a:t>
            </a:r>
            <a:br>
              <a:rPr dirty="0"/>
            </a:br>
            <a:r>
              <a:rPr dirty="0"/>
              <a:t>        ↓</a:t>
            </a:r>
            <a:br>
              <a:rPr dirty="0"/>
            </a:br>
            <a:r>
              <a:rPr dirty="0"/>
              <a:t>OUR DIRECTION</a:t>
            </a:r>
            <a:br>
              <a:rPr dirty="0"/>
            </a:br>
            <a:r>
              <a:rPr dirty="0"/>
              <a:t>        ↓</a:t>
            </a:r>
            <a:br>
              <a:rPr dirty="0"/>
            </a:br>
            <a:r>
              <a:rPr dirty="0"/>
              <a:t>Low-cost IoT + Feature Extraction + ML +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BRIDGEGUARD AI | IDP Review II | Project ID: 20260074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111827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71980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rPr dirty="0"/>
              <a:t>0</a:t>
            </a:r>
            <a:r>
              <a:rPr lang="en-IN" dirty="0"/>
              <a:t>1</a:t>
            </a:r>
            <a:r>
              <a:rPr dirty="0"/>
              <a:t> FEATURE EXTRACTION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Extract useful features from sensor signals (RMS, Peak, </a:t>
            </a:r>
            <a:r>
              <a:rPr dirty="0" err="1"/>
              <a:t>StdDev</a:t>
            </a:r>
            <a:r>
              <a:rPr dirty="0"/>
              <a:t>, Dominant Freq, Tilt, Temp).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686970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rPr dirty="0"/>
              <a:t>0</a:t>
            </a:r>
            <a:r>
              <a:rPr lang="en-IN" dirty="0"/>
              <a:t>2</a:t>
            </a:r>
            <a:r>
              <a:rPr dirty="0"/>
              <a:t> ML-BASED DETECTION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Develop a Random Forest classifier for abnormal structural-</a:t>
            </a:r>
            <a:r>
              <a:rPr dirty="0" err="1"/>
              <a:t>behaviour</a:t>
            </a:r>
            <a:r>
              <a:rPr dirty="0"/>
              <a:t> detection.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5757282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rPr dirty="0"/>
              <a:t>0</a:t>
            </a:r>
            <a:r>
              <a:rPr lang="en-IN" dirty="0"/>
              <a:t>3</a:t>
            </a:r>
            <a:r>
              <a:rPr dirty="0"/>
              <a:t> HEALTH INDICATION</a:t>
            </a:r>
          </a:p>
          <a:p>
            <a:pPr>
              <a:defRPr sz="1600">
                <a:solidFill>
                  <a:srgbClr val="111827"/>
                </a:solidFill>
              </a:defRPr>
            </a:pPr>
            <a:r>
              <a:rPr dirty="0"/>
              <a:t>Generate a simple prototype health score and condition indication.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BRIDGEGUARD AI | IDP Review II | Project ID: 20260074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111827"/>
                </a:solidFill>
              </a:defRPr>
            </a:pPr>
            <a:r>
              <a:t>PROPOSED METHODOLOGY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4700" y="16002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PHYSICAL BRIDGE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        ↓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SENSORS (MPU6050 + Environmental)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        ↓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ESP32 (Wi-Fi / IoT)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        ↓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SENSOR DATA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        ↓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SIGNAL PROCESSING &amp; FEATURE EXTRACTION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(RMS, Peak, </a:t>
            </a:r>
            <a:r>
              <a:rPr dirty="0" err="1"/>
              <a:t>StdDev</a:t>
            </a:r>
            <a:r>
              <a:rPr dirty="0"/>
              <a:t>, Freq, Tilt, Temp)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        ↓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RANDOM FOREST CLASSIFIER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        ↓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NORMAL / ABNORMAL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        ↓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BRIDGEGUARD AI DASHBOARD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        ↓</a:t>
            </a:r>
          </a:p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HEALTH STATUS / ALERT / TREND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BRIDGEGUARD AI | IDP Review II | Project ID: 20260074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111827"/>
                </a:solidFill>
              </a:defRPr>
            </a:pPr>
            <a:r>
              <a:t>RESULTS / INITIAL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t>CURRENT PROGRESS — APPROX.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COMPLETED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✓ Web-based BridgeGuard AI dashboard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✓ Bridge health visualization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✓ Simulated sensor inputs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✓ Prototype health-score calculation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✓ Vibration response visualization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✓ System architecture</a:t>
            </a:r>
          </a:p>
          <a:p>
            <a:pPr>
              <a:spcAft>
                <a:spcPts val="500"/>
              </a:spcAft>
              <a:defRPr sz="1400">
                <a:solidFill>
                  <a:srgbClr val="111827"/>
                </a:solidFill>
              </a:defRPr>
            </a:pPr>
            <a:r>
              <a:t>✓ Real-world SHM dataset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rPr dirty="0"/>
              <a:t>IN PROGRESS</a:t>
            </a:r>
          </a:p>
          <a:p>
            <a:pPr>
              <a:spcAft>
                <a:spcPts val="5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→ </a:t>
            </a:r>
            <a:r>
              <a:rPr dirty="0" err="1"/>
              <a:t>Vänersborg</a:t>
            </a:r>
            <a:r>
              <a:rPr dirty="0"/>
              <a:t> dataset preprocessing</a:t>
            </a:r>
          </a:p>
          <a:p>
            <a:pPr>
              <a:spcAft>
                <a:spcPts val="5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→ Feature extraction</a:t>
            </a:r>
          </a:p>
          <a:p>
            <a:pPr>
              <a:spcAft>
                <a:spcPts val="5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→ Random Forest training &amp; evaluation</a:t>
            </a:r>
          </a:p>
          <a:p>
            <a:pPr>
              <a:spcAft>
                <a:spcPts val="5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→ ESP32 + MPU6050 integration</a:t>
            </a:r>
          </a:p>
          <a:p>
            <a:pPr>
              <a:spcAft>
                <a:spcPts val="500"/>
              </a:spcAft>
              <a:defRPr sz="1400">
                <a:solidFill>
                  <a:srgbClr val="64748B"/>
                </a:solidFill>
              </a:defRPr>
            </a:pPr>
            <a:r>
              <a:rPr dirty="0"/>
              <a:t>→ Live sensor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0200" y="1691640"/>
            <a:ext cx="5827942" cy="2475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 b="1">
                <a:solidFill>
                  <a:srgbClr val="2563EB"/>
                </a:solidFill>
              </a:defRPr>
            </a:pPr>
            <a:r>
              <a:rPr dirty="0"/>
              <a:t>REAL-WORLD DATASET</a:t>
            </a:r>
          </a:p>
          <a:p>
            <a:pPr>
              <a:spcAft>
                <a:spcPts val="1500"/>
              </a:spcAft>
              <a:defRPr sz="1400">
                <a:solidFill>
                  <a:srgbClr val="111827"/>
                </a:solidFill>
              </a:defRPr>
            </a:pPr>
            <a:r>
              <a:rPr dirty="0" err="1"/>
              <a:t>Vänersborg</a:t>
            </a:r>
            <a:r>
              <a:rPr dirty="0"/>
              <a:t> Bridge SHM Dataset — Sweden</a:t>
            </a:r>
            <a:br>
              <a:rPr dirty="0"/>
            </a:br>
            <a:r>
              <a:rPr dirty="0"/>
              <a:t>• 64 monitored bridge-opening events</a:t>
            </a:r>
            <a:br>
              <a:rPr dirty="0"/>
            </a:br>
            <a:r>
              <a:rPr dirty="0"/>
              <a:t>• Acceleration / vibration data</a:t>
            </a:r>
            <a:br>
              <a:rPr dirty="0"/>
            </a:br>
            <a:r>
              <a:rPr dirty="0"/>
              <a:t>• Strain &amp; inclination measurements</a:t>
            </a:r>
            <a:br>
              <a:rPr dirty="0"/>
            </a:br>
            <a:r>
              <a:rPr dirty="0"/>
              <a:t>• Measurements surrounding a verified structural fracture</a:t>
            </a:r>
            <a:br>
              <a:rPr dirty="0"/>
            </a:br>
            <a:r>
              <a:rPr dirty="0"/>
              <a:t>Source: </a:t>
            </a:r>
            <a:r>
              <a:rPr dirty="0" err="1"/>
              <a:t>Zenodo</a:t>
            </a:r>
            <a:r>
              <a:rPr dirty="0"/>
              <a:t> — DOI 10.5281/zenodo.8300495</a:t>
            </a:r>
          </a:p>
          <a:p>
            <a:pPr>
              <a:spcAft>
                <a:spcPts val="2000"/>
              </a:spcAft>
              <a:defRPr sz="1400" b="1">
                <a:solidFill>
                  <a:srgbClr val="111827"/>
                </a:solidFill>
              </a:defRPr>
            </a:pPr>
            <a:r>
              <a:rPr dirty="0"/>
              <a:t>Used as a real-world reference for abnormal structural-</a:t>
            </a:r>
            <a:r>
              <a:rPr dirty="0" err="1"/>
              <a:t>behaviour</a:t>
            </a:r>
            <a:r>
              <a:rPr dirty="0"/>
              <a:t>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92DC-BDA9-EFBA-D782-66AFDB30C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3367C8-7100-82A8-A616-FF176A6DE676}"/>
              </a:ext>
            </a:extLst>
          </p:cNvPr>
          <p:cNvSpPr txBox="1"/>
          <p:nvPr/>
        </p:nvSpPr>
        <p:spPr>
          <a:xfrm>
            <a:off x="824294" y="6379665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BRIDGEGUARD AI | IDP Review II | Project ID: 20260074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D49CA1-FFFA-D2D4-2483-7C9A2736241D}"/>
              </a:ext>
            </a:extLst>
          </p:cNvPr>
          <p:cNvSpPr txBox="1"/>
          <p:nvPr/>
        </p:nvSpPr>
        <p:spPr>
          <a:xfrm>
            <a:off x="1281494" y="155078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111827"/>
                </a:solidFill>
              </a:defRPr>
            </a:pPr>
            <a:r>
              <a:rPr dirty="0"/>
              <a:t>RESULTS / INITIAL 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28F876-721E-8B2A-0712-AFE474FA0A2D}"/>
              </a:ext>
            </a:extLst>
          </p:cNvPr>
          <p:cNvSpPr txBox="1"/>
          <p:nvPr/>
        </p:nvSpPr>
        <p:spPr>
          <a:xfrm>
            <a:off x="8429794" y="856861"/>
            <a:ext cx="892685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 b="1">
                <a:solidFill>
                  <a:srgbClr val="2563EB"/>
                </a:solidFill>
              </a:defRPr>
            </a:pPr>
            <a:r>
              <a:rPr dirty="0"/>
              <a:t>CURRENT PROGRESS — APPROX. 20%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E358A-86F4-DCDF-725B-685482A3B934}"/>
              </a:ext>
            </a:extLst>
          </p:cNvPr>
          <p:cNvSpPr txBox="1"/>
          <p:nvPr/>
        </p:nvSpPr>
        <p:spPr>
          <a:xfrm>
            <a:off x="8463344" y="1414400"/>
            <a:ext cx="258127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CURRENT STATUS</a:t>
            </a:r>
            <a:br>
              <a:rPr dirty="0"/>
            </a:br>
            <a:r>
              <a:rPr dirty="0"/>
              <a:t>Dashboard ✓   </a:t>
            </a:r>
            <a:endParaRPr lang="en-IN" dirty="0"/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Simulation ✓ </a:t>
            </a:r>
            <a:endParaRPr lang="en-IN" dirty="0"/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rPr dirty="0"/>
              <a:t>Architecture ✓</a:t>
            </a:r>
            <a:br>
              <a:rPr dirty="0"/>
            </a:br>
            <a:r>
              <a:rPr dirty="0"/>
              <a:t>Dataset Identified ✓</a:t>
            </a:r>
            <a:br>
              <a:rPr lang="en-IN" dirty="0"/>
            </a:br>
            <a:r>
              <a:rPr lang="en-IN" dirty="0"/>
              <a:t>→ </a:t>
            </a:r>
            <a:r>
              <a:rPr dirty="0"/>
              <a:t>ML Training</a:t>
            </a:r>
            <a:br>
              <a:rPr lang="en-IN" dirty="0"/>
            </a:br>
            <a:r>
              <a:rPr lang="en-IN" dirty="0"/>
              <a:t>→ </a:t>
            </a:r>
            <a:r>
              <a:rPr dirty="0"/>
              <a:t>Hardware Integration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05CFC2-169A-0BD6-1F04-C9B40A611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60" y="1136136"/>
            <a:ext cx="6475567" cy="53622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3D3E59-5C49-596E-BE74-E37B80DA15A4}"/>
              </a:ext>
            </a:extLst>
          </p:cNvPr>
          <p:cNvSpPr txBox="1"/>
          <p:nvPr/>
        </p:nvSpPr>
        <p:spPr>
          <a:xfrm>
            <a:off x="6797220" y="367682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0156FF"/>
                </a:solidFill>
              </a:rPr>
              <a:t>WORKING PROTOTYPE</a:t>
            </a:r>
            <a:endParaRPr lang="en-IN" dirty="0">
              <a:solidFill>
                <a:srgbClr val="0156FF"/>
              </a:solidFill>
            </a:endParaRPr>
          </a:p>
          <a:p>
            <a:pPr>
              <a:buNone/>
            </a:pPr>
            <a:r>
              <a:rPr lang="en-IN" dirty="0"/>
              <a:t>Web-based Bridge Structural Health Monitoring dashboard with simulated sensor inputs, prototype health scoring and visualization.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>
                <a:solidFill>
                  <a:srgbClr val="272FD9"/>
                </a:solidFill>
              </a:rPr>
              <a:t>Live Demo:</a:t>
            </a:r>
            <a:br>
              <a:rPr lang="en-IN" dirty="0"/>
            </a:br>
            <a:r>
              <a:rPr lang="en-IN" dirty="0">
                <a:hlinkClick r:id="rId3"/>
              </a:rPr>
              <a:t>bridgeguard-ai-</a:t>
            </a:r>
            <a:r>
              <a:rPr lang="en-IN" dirty="0" err="1">
                <a:hlinkClick r:id="rId3"/>
              </a:rPr>
              <a:t>alpha.vercel.app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4F1A3E-B008-A66C-C8A5-E9D415239307}"/>
              </a:ext>
            </a:extLst>
          </p:cNvPr>
          <p:cNvSpPr txBox="1"/>
          <p:nvPr/>
        </p:nvSpPr>
        <p:spPr>
          <a:xfrm>
            <a:off x="1357692" y="2490426"/>
            <a:ext cx="5619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LIVE PROTOTYPE                    SIMULATION MODE</a:t>
            </a:r>
          </a:p>
        </p:txBody>
      </p:sp>
    </p:spTree>
    <p:extLst>
      <p:ext uri="{BB962C8B-B14F-4D97-AF65-F5344CB8AC3E}">
        <p14:creationId xmlns:p14="http://schemas.microsoft.com/office/powerpoint/2010/main" val="135479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826</Words>
  <Application>Microsoft Office PowerPoint</Application>
  <PresentationFormat>Widescreen</PresentationFormat>
  <Paragraphs>170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avula tarun</cp:lastModifiedBy>
  <cp:revision>1</cp:revision>
  <dcterms:created xsi:type="dcterms:W3CDTF">2013-01-27T09:14:16Z</dcterms:created>
  <dcterms:modified xsi:type="dcterms:W3CDTF">2026-09-22T14:28:28Z</dcterms:modified>
  <cp:category/>
</cp:coreProperties>
</file>